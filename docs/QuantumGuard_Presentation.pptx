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Fidelity vs. Alert Threshold (0.85)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Fidelity</c:v>
                </c:pt>
              </c:strCache>
            </c:strRef>
          </c:tx>
          <c:spPr>
            <a:solidFill>
              <a:srgbClr val="1FBC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476-465D-9C55-21C8E2ABA963}"/>
              </c:ext>
            </c:extLst>
          </c:dPt>
          <c:dPt>
            <c:idx val="1"/>
            <c:invertIfNegative val="0"/>
            <c:bubble3D val="0"/>
            <c:spPr>
              <a:solidFill>
                <a:srgbClr val="E852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76-465D-9C55-21C8E2ABA963}"/>
              </c:ext>
            </c:extLst>
          </c:dPt>
          <c:dPt>
            <c:idx val="2"/>
            <c:invertIfNegative val="0"/>
            <c:bubble3D val="0"/>
            <c:spPr>
              <a:solidFill>
                <a:srgbClr val="F0A2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476-465D-9C55-21C8E2ABA963}"/>
              </c:ext>
            </c:extLst>
          </c:dPt>
          <c:dPt>
            <c:idx val="3"/>
            <c:invertIfNegative val="0"/>
            <c:bubble3D val="0"/>
            <c:spPr>
              <a:solidFill>
                <a:srgbClr val="7C5A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476-465D-9C55-21C8E2ABA963}"/>
              </c:ext>
            </c:extLst>
          </c:dPt>
          <c:cat>
            <c:strRef>
              <c:f>Sheet1!$A$2:$A$5</c:f>
              <c:strCache>
                <c:ptCount val="4"/>
                <c:pt idx="0">
                  <c:v>Legitimate</c:v>
                </c:pt>
                <c:pt idx="1">
                  <c:v>Random Attack</c:v>
                </c:pt>
                <c:pt idx="2">
                  <c:v>Fixed Attack</c:v>
                </c:pt>
                <c:pt idx="3">
                  <c:v>Clone Attempt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0.5</c:v>
                </c:pt>
                <c:pt idx="2">
                  <c:v>0.65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476-465D-9C55-21C8E2ABA9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0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6350" cap="flat">
              <a:solidFill>
                <a:srgbClr val="2A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0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889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2560320"/>
            <a:ext cx="3474720" cy="3474720"/>
          </a:xfrm>
          <a:prstGeom prst="ellipse">
            <a:avLst/>
          </a:prstGeom>
          <a:solidFill>
            <a:srgbClr val="E8523A">
              <a:alpha val="20000"/>
            </a:srgbClr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33846" y="3072384"/>
            <a:ext cx="2011680" cy="2011680"/>
          </a:xfrm>
          <a:prstGeom prst="ellipse">
            <a:avLst/>
          </a:prstGeom>
          <a:solidFill>
            <a:srgbClr val="E8523A">
              <a:alpha val="35000"/>
            </a:srgbClr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4572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E8523A">
                    <a:alpha val="80000"/>
                  </a:srgbClr>
                </a:solidFill>
              </a:rPr>
              <a:t>⚛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11480" y="256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COEP Technological University, Pune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4937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 ·  AY 2025–2026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11480" y="162763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System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11480" y="23957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D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Tripwire-Based Intrusion Detection Using Quantum Physics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85292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1A2030"/>
          </a:solidFill>
          <a:ln w="12700">
            <a:solidFill>
              <a:srgbClr val="454C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852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No-Cloning Theorem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618488" y="285292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1A2030"/>
          </a:solidFill>
          <a:ln w="12700">
            <a:solidFill>
              <a:srgbClr val="454C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18488" y="2852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Effect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825496" y="285292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1A2030"/>
          </a:solidFill>
          <a:ln w="12700">
            <a:solidFill>
              <a:srgbClr val="454C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25496" y="2852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032504" y="285292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1A2030"/>
          </a:solidFill>
          <a:ln w="12700">
            <a:solidFill>
              <a:srgbClr val="454C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32504" y="2852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11480" y="33375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Verma  ·  MIS: 612303196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71800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Bhagat  ·  MIS: 612301082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3950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 Raj  ·  MIS: 612301004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71800" y="3950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 Ashraf  ·  MIS: 612311013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4663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5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Dr. Mukta Nivelkar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 — What is a Quantum Honeypot?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097280" cy="4572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32688"/>
            <a:ext cx="3749040" cy="3840480"/>
          </a:xfrm>
          <a:prstGeom prst="rect">
            <a:avLst/>
          </a:prstGeom>
          <a:solidFill>
            <a:srgbClr val="161B22"/>
          </a:solidFill>
          <a:ln w="19050">
            <a:solidFill>
              <a:srgbClr val="FF4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32688"/>
            <a:ext cx="3749040" cy="457200"/>
          </a:xfrm>
          <a:prstGeom prst="rect">
            <a:avLst/>
          </a:prstGeom>
          <a:solidFill>
            <a:srgbClr val="CC3030"/>
          </a:solidFill>
          <a:ln w="12700">
            <a:solidFill>
              <a:srgbClr val="CC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326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🍯  CLASSICAL HONEYPOT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164592" cy="164592"/>
          </a:xfrm>
          <a:prstGeom prst="ellipse">
            <a:avLst/>
          </a:prstGeom>
          <a:solidFill>
            <a:srgbClr val="CC3030"/>
          </a:solidFill>
          <a:ln w="12700">
            <a:solidFill>
              <a:srgbClr val="CC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81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can SILENTLY read the token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164592" cy="164592"/>
          </a:xfrm>
          <a:prstGeom prst="ellipse">
            <a:avLst/>
          </a:prstGeom>
          <a:solidFill>
            <a:srgbClr val="CC3030"/>
          </a:solidFill>
          <a:ln w="12700">
            <a:solidFill>
              <a:srgbClr val="CC3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0482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cloning of data is trivial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642616"/>
            <a:ext cx="164592" cy="164592"/>
          </a:xfrm>
          <a:prstGeom prst="ellipse">
            <a:avLst/>
          </a:prstGeom>
          <a:solidFill>
            <a:srgbClr val="CC3030"/>
          </a:solidFill>
          <a:ln w="12700">
            <a:solidFill>
              <a:srgbClr val="CC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615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logs can be wiped by attacker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209544"/>
            <a:ext cx="164592" cy="164592"/>
          </a:xfrm>
          <a:prstGeom prst="ellipse">
            <a:avLst/>
          </a:prstGeom>
          <a:solidFill>
            <a:srgbClr val="CC3030"/>
          </a:solidFill>
          <a:ln w="12700">
            <a:solidFill>
              <a:srgbClr val="CC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1821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= software monitoring only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76472"/>
            <a:ext cx="164592" cy="164592"/>
          </a:xfrm>
          <a:prstGeom prst="ellipse">
            <a:avLst/>
          </a:prstGeom>
          <a:solidFill>
            <a:srgbClr val="CC3030"/>
          </a:solidFill>
          <a:ln w="12700">
            <a:solidFill>
              <a:srgbClr val="CC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749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attacker leaves no trace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33088" y="2606040"/>
            <a:ext cx="731520" cy="45720"/>
          </a:xfrm>
          <a:prstGeom prst="rect">
            <a:avLst/>
          </a:prstGeom>
          <a:solidFill>
            <a:srgbClr val="F0A22E"/>
          </a:solidFill>
          <a:ln w="12700">
            <a:solidFill>
              <a:srgbClr val="F0A2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23774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0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983480" y="932688"/>
            <a:ext cx="3840480" cy="3840480"/>
          </a:xfrm>
          <a:prstGeom prst="rect">
            <a:avLst/>
          </a:prstGeom>
          <a:solidFill>
            <a:srgbClr val="161B22"/>
          </a:solidFill>
          <a:ln w="19050">
            <a:solidFill>
              <a:srgbClr val="1DB8A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932688"/>
            <a:ext cx="3840480" cy="457200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932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  QUANTUM HONEYPOT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66360" y="1508760"/>
            <a:ext cx="164592" cy="164592"/>
          </a:xfrm>
          <a:prstGeom prst="ellipse">
            <a:avLst/>
          </a:prstGeom>
          <a:solidFill>
            <a:srgbClr val="1DB8A5"/>
          </a:solidFill>
          <a:ln w="12700">
            <a:solidFill>
              <a:srgbClr val="1DB8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13248" y="1481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collapses qubit state — detected!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66360" y="2075688"/>
            <a:ext cx="164592" cy="164592"/>
          </a:xfrm>
          <a:prstGeom prst="ellipse">
            <a:avLst/>
          </a:prstGeom>
          <a:solidFill>
            <a:srgbClr val="1DB8A5"/>
          </a:solidFill>
          <a:ln w="12700">
            <a:solidFill>
              <a:srgbClr val="1DB8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13248" y="20482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No-Cloning Theorem: copying is impossible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66360" y="2642616"/>
            <a:ext cx="164592" cy="164592"/>
          </a:xfrm>
          <a:prstGeom prst="ellipse">
            <a:avLst/>
          </a:prstGeom>
          <a:solidFill>
            <a:srgbClr val="1DB8A5"/>
          </a:solidFill>
          <a:ln w="12700">
            <a:solidFill>
              <a:srgbClr val="1DB8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13248" y="26151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signature cannot be forged/wiped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66360" y="3209544"/>
            <a:ext cx="164592" cy="164592"/>
          </a:xfrm>
          <a:prstGeom prst="ellipse">
            <a:avLst/>
          </a:prstGeom>
          <a:solidFill>
            <a:srgbClr val="1DB8A5"/>
          </a:solidFill>
          <a:ln w="12700">
            <a:solidFill>
              <a:srgbClr val="1DB8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13248" y="31821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= laws of physics, not software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66360" y="3776472"/>
            <a:ext cx="164592" cy="164592"/>
          </a:xfrm>
          <a:prstGeom prst="ellipse">
            <a:avLst/>
          </a:prstGeom>
          <a:solidFill>
            <a:srgbClr val="1DB8A5"/>
          </a:solidFill>
          <a:ln w="12700">
            <a:solidFill>
              <a:srgbClr val="1DB8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13248" y="3749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access is physically impossible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Physics Behind the Honeypot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097280" cy="4572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2743200" cy="1719072"/>
          </a:xfrm>
          <a:prstGeom prst="rect">
            <a:avLst/>
          </a:prstGeom>
          <a:solidFill>
            <a:srgbClr val="0D2E2B"/>
          </a:solidFill>
          <a:ln w="12700">
            <a:solidFill>
              <a:srgbClr val="1DB8A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042416"/>
            <a:ext cx="420624" cy="420624"/>
          </a:xfrm>
          <a:prstGeom prst="ellipse">
            <a:avLst/>
          </a:prstGeom>
          <a:solidFill>
            <a:srgbClr val="1DB8A5">
              <a:alpha val="75000"/>
            </a:srgbClr>
          </a:solidFill>
          <a:ln w="12700">
            <a:solidFill>
              <a:srgbClr val="1DB8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42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D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04241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517904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as α|0⟩+β|1⟩ — both states simultaneously. Reading collapses to one state. Unlike a bit, reading is NOT passive.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1719072"/>
          </a:xfrm>
          <a:prstGeom prst="rect">
            <a:avLst/>
          </a:prstGeom>
          <a:solidFill>
            <a:srgbClr val="1E1640"/>
          </a:solidFill>
          <a:ln w="12700">
            <a:solidFill>
              <a:srgbClr val="7C5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042416"/>
            <a:ext cx="420624" cy="420624"/>
          </a:xfrm>
          <a:prstGeom prst="ellipse">
            <a:avLst/>
          </a:prstGeom>
          <a:solidFill>
            <a:srgbClr val="7C5AF0">
              <a:alpha val="75000"/>
            </a:srgbClr>
          </a:solidFill>
          <a:ln w="12700">
            <a:solidFill>
              <a:srgbClr val="7C5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042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5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94760" y="104241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5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517904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gate: |0⟩ → |+⟩=(|0⟩+|1⟩)/√2. The tripwire qubit is in this state — perfectly ordered, invisible to classical inspection.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914400"/>
            <a:ext cx="2743200" cy="1719072"/>
          </a:xfrm>
          <a:prstGeom prst="rect">
            <a:avLst/>
          </a:prstGeom>
          <a:solidFill>
            <a:srgbClr val="3D1A14"/>
          </a:solidFill>
          <a:ln w="12700">
            <a:solidFill>
              <a:srgbClr val="E852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0488" y="1042416"/>
            <a:ext cx="420624" cy="420624"/>
          </a:xfrm>
          <a:prstGeom prst="ellipse">
            <a:avLst/>
          </a:prstGeom>
          <a:solidFill>
            <a:srgbClr val="E8523A">
              <a:alpha val="75000"/>
            </a:srgbClr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1042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104241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No-Cloning Theorem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0488" y="1517904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(Wootters &amp; Zurek, 1982). Physically impossible to copy an unknown quantum state. An attacker CANNOT duplicate a tripwire.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743200"/>
            <a:ext cx="2743200" cy="1719072"/>
          </a:xfrm>
          <a:prstGeom prst="rect">
            <a:avLst/>
          </a:prstGeom>
          <a:solidFill>
            <a:srgbClr val="302010"/>
          </a:solidFill>
          <a:ln w="12700">
            <a:solidFill>
              <a:srgbClr val="F0A2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" y="2871216"/>
            <a:ext cx="420624" cy="420624"/>
          </a:xfrm>
          <a:prstGeom prst="ellipse">
            <a:avLst/>
          </a:prstGeom>
          <a:solidFill>
            <a:srgbClr val="F0A22E">
              <a:alpha val="75000"/>
            </a:srgbClr>
          </a:solidFill>
          <a:ln w="12700">
            <a:solidFill>
              <a:srgbClr val="F0A2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871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287121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Effect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" y="3346704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in the wrong basis collapses the qubit to a wrong state. ~50% of attacker guesses are wrong — each fires the alarm.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2743200" cy="1719072"/>
          </a:xfrm>
          <a:prstGeom prst="rect">
            <a:avLst/>
          </a:prstGeom>
          <a:solidFill>
            <a:srgbClr val="0D2A1A"/>
          </a:solidFill>
          <a:ln w="12700">
            <a:solidFill>
              <a:srgbClr val="1FBC6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0128" y="2871216"/>
            <a:ext cx="420624" cy="420624"/>
          </a:xfrm>
          <a:prstGeom prst="ellipse">
            <a:avLst/>
          </a:prstGeom>
          <a:solidFill>
            <a:srgbClr val="1FBC6E">
              <a:alpha val="75000"/>
            </a:srgbClr>
          </a:solidFill>
          <a:ln w="12700">
            <a:solidFill>
              <a:srgbClr val="1FBC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871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B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94760" y="287121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B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Fidelity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0128" y="3346704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F(ρ,σ) measures similarity of two quantum states. Legit user: F≈1.0. Attacker: F≈0.5. Threshold 0.85 → clean alarm boundary.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2743200"/>
            <a:ext cx="2743200" cy="1719072"/>
          </a:xfrm>
          <a:prstGeom prst="rect">
            <a:avLst/>
          </a:prstGeom>
          <a:solidFill>
            <a:srgbClr val="1A1E3A"/>
          </a:solidFill>
          <a:ln w="12700">
            <a:solidFill>
              <a:srgbClr val="7B8F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0488" y="2871216"/>
            <a:ext cx="420624" cy="420624"/>
          </a:xfrm>
          <a:prstGeom prst="ellipse">
            <a:avLst/>
          </a:prstGeom>
          <a:solidFill>
            <a:srgbClr val="7B8FF7">
              <a:alpha val="75000"/>
            </a:srgbClr>
          </a:solidFill>
          <a:ln w="12700">
            <a:solidFill>
              <a:srgbClr val="7B8F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0488" y="2871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B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75120" y="287121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Hadamard Gate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0488" y="3346704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H|0⟩=|+⟩. The core gate that creates our tripwire superposition. Correct reversal by legit user restores state cleanly.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Token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097280" cy="4572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5120640" cy="3931920"/>
          </a:xfrm>
          <a:prstGeom prst="rect">
            <a:avLst/>
          </a:prstGeom>
          <a:solidFill>
            <a:srgbClr val="161B22"/>
          </a:solidFill>
          <a:ln w="19050">
            <a:solidFill>
              <a:srgbClr val="E852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5120640" cy="38404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TOKEN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4754880" cy="822960"/>
          </a:xfrm>
          <a:prstGeom prst="rect">
            <a:avLst/>
          </a:prstGeom>
          <a:solidFill>
            <a:srgbClr val="1E1010"/>
          </a:solidFill>
          <a:ln w="12700">
            <a:solidFill>
              <a:srgbClr val="55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17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LAYER (visible to attacker)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6093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resource: "DB_ADMIN_PASSWORD"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value: "a3f8e2c1d9b7...24" (fake SHA-256)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304288"/>
            <a:ext cx="4754880" cy="1024128"/>
          </a:xfrm>
          <a:prstGeom prst="rect">
            <a:avLst/>
          </a:prstGeom>
          <a:solidFill>
            <a:srgbClr val="0A1A18"/>
          </a:solidFill>
          <a:ln w="12700">
            <a:solidFill>
              <a:srgbClr val="1A4A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LAYER — TRIPWIRES (invisible classically)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" y="2560320"/>
            <a:ext cx="475488" cy="475488"/>
          </a:xfrm>
          <a:prstGeom prst="ellipse">
            <a:avLst/>
          </a:prstGeom>
          <a:solidFill>
            <a:srgbClr val="1A2A4A"/>
          </a:solidFill>
          <a:ln w="19050">
            <a:solidFill>
              <a:srgbClr val="4A6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5117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83464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0358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5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161288" y="2560320"/>
            <a:ext cx="475488" cy="475488"/>
          </a:xfrm>
          <a:prstGeom prst="ellipse">
            <a:avLst/>
          </a:prstGeom>
          <a:solidFill>
            <a:srgbClr val="1A3A2A"/>
          </a:solidFill>
          <a:ln w="19050">
            <a:solidFill>
              <a:srgbClr val="1DB8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255117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D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61288" y="283464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61288" y="30358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5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728216" y="2560320"/>
            <a:ext cx="475488" cy="475488"/>
          </a:xfrm>
          <a:prstGeom prst="ellipse">
            <a:avLst/>
          </a:prstGeom>
          <a:solidFill>
            <a:srgbClr val="1A2A4A"/>
          </a:solidFill>
          <a:ln w="19050">
            <a:solidFill>
              <a:srgbClr val="4A6A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28216" y="255117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28216" y="283464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28216" y="30358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5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295144" y="2560320"/>
            <a:ext cx="475488" cy="475488"/>
          </a:xfrm>
          <a:prstGeom prst="ellipse">
            <a:avLst/>
          </a:prstGeom>
          <a:solidFill>
            <a:srgbClr val="1A2A4A"/>
          </a:solidFill>
          <a:ln w="19050">
            <a:solidFill>
              <a:srgbClr val="4A6A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95144" y="255117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95144" y="283464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95144" y="30358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5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862072" y="2560320"/>
            <a:ext cx="475488" cy="475488"/>
          </a:xfrm>
          <a:prstGeom prst="ellipse">
            <a:avLst/>
          </a:prstGeom>
          <a:solidFill>
            <a:srgbClr val="1A3A2A"/>
          </a:solidFill>
          <a:ln w="19050">
            <a:solidFill>
              <a:srgbClr val="1DB8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62072" y="255117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D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62072" y="283464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862072" y="30358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5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429000" y="2560320"/>
            <a:ext cx="475488" cy="475488"/>
          </a:xfrm>
          <a:prstGeom prst="ellipse">
            <a:avLst/>
          </a:prstGeom>
          <a:solidFill>
            <a:srgbClr val="1A2A4A"/>
          </a:solidFill>
          <a:ln w="19050">
            <a:solidFill>
              <a:srgbClr val="4A6A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255117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29000" y="283464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29000" y="30358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5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995928" y="2560320"/>
            <a:ext cx="475488" cy="475488"/>
          </a:xfrm>
          <a:prstGeom prst="ellipse">
            <a:avLst/>
          </a:prstGeom>
          <a:solidFill>
            <a:srgbClr val="1A3A2A"/>
          </a:solidFill>
          <a:ln w="19050">
            <a:solidFill>
              <a:srgbClr val="1DB8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95928" y="255117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D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995928" y="283464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995928" y="30358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5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562856" y="2560320"/>
            <a:ext cx="475488" cy="475488"/>
          </a:xfrm>
          <a:prstGeom prst="ellipse">
            <a:avLst/>
          </a:prstGeom>
          <a:solidFill>
            <a:srgbClr val="1A2A4A"/>
          </a:solidFill>
          <a:ln w="19050">
            <a:solidFill>
              <a:srgbClr val="4A6A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62856" y="255117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62856" y="283464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62856" y="30358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5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02920" y="33284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qubit in |+⟩ superposition via H gate. Basis key is SECRET — only server knows.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02920" y="37307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guessing all 6 bases: 2⁻⁶ = 1.56%  →  evasion is effectively impossible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77840" y="914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577840" y="1353312"/>
            <a:ext cx="347472" cy="347472"/>
          </a:xfrm>
          <a:prstGeom prst="ellipse">
            <a:avLst/>
          </a:prstGeom>
          <a:solidFill>
            <a:srgbClr val="1DB8A5"/>
          </a:solidFill>
          <a:ln w="12700">
            <a:solidFill>
              <a:srgbClr val="1DB8A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0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016752" y="137160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creates token with N tripwire qubits in |+⟩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577840" y="2011680"/>
            <a:ext cx="347472" cy="347472"/>
          </a:xfrm>
          <a:prstGeom prst="ellipse">
            <a:avLst/>
          </a:prstGeom>
          <a:solidFill>
            <a:srgbClr val="1DB8A5"/>
          </a:solidFill>
          <a:ln w="12700">
            <a:solidFill>
              <a:srgbClr val="1DB8A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016752" y="2029968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deployed as bait. Basis key kept secret.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577840" y="2670048"/>
            <a:ext cx="347472" cy="347472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0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016752" y="2688336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reads token, must measure qubits.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577840" y="3328416"/>
            <a:ext cx="347472" cy="347472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77840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016752" y="3346704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basis → fidelity drops → alert fires!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577840" y="3986784"/>
            <a:ext cx="347472" cy="347472"/>
          </a:xfrm>
          <a:prstGeom prst="ellipse">
            <a:avLst/>
          </a:prstGeom>
          <a:solidFill>
            <a:srgbClr val="1FBC6E"/>
          </a:solidFill>
          <a:ln w="12700">
            <a:solidFill>
              <a:srgbClr val="1FBC6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77840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016752" y="400507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 user has basis key → measures correctly.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Attacker Models Simulated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097280" cy="4572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2834640" cy="3931920"/>
          </a:xfrm>
          <a:prstGeom prst="rect">
            <a:avLst/>
          </a:prstGeom>
          <a:solidFill>
            <a:srgbClr val="2A1E08"/>
          </a:solidFill>
          <a:ln w="19050">
            <a:solidFill>
              <a:srgbClr val="F0A2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834640" cy="502920"/>
          </a:xfrm>
          <a:prstGeom prst="rect">
            <a:avLst/>
          </a:prstGeom>
          <a:solidFill>
            <a:srgbClr val="F0A22E"/>
          </a:solidFill>
          <a:ln w="12700">
            <a:solidFill>
              <a:srgbClr val="F0A2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Random Basis Attack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2336" y="1572768"/>
            <a:ext cx="128016" cy="128016"/>
          </a:xfrm>
          <a:prstGeom prst="ellipse">
            <a:avLst/>
          </a:prstGeom>
          <a:solidFill>
            <a:srgbClr val="F0A22E"/>
          </a:solidFill>
          <a:ln w="12700">
            <a:solidFill>
              <a:srgbClr val="F0A2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randomly guesses '+' or '×' for each qubit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4904" y="2167128"/>
            <a:ext cx="128016" cy="128016"/>
          </a:xfrm>
          <a:prstGeom prst="ellipse">
            <a:avLst/>
          </a:prstGeom>
          <a:solidFill>
            <a:srgbClr val="F0A22E"/>
          </a:solidFill>
          <a:ln w="12700">
            <a:solidFill>
              <a:srgbClr val="F0A2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20391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probability per qubit = 50%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7014" y="2670048"/>
            <a:ext cx="128016" cy="128016"/>
          </a:xfrm>
          <a:prstGeom prst="ellipse">
            <a:avLst/>
          </a:prstGeom>
          <a:solidFill>
            <a:srgbClr val="F0A22E"/>
          </a:solidFill>
          <a:ln w="12700">
            <a:solidFill>
              <a:srgbClr val="F0A2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25420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average fidelity ≈ 0.50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2336" y="3175782"/>
            <a:ext cx="128016" cy="128016"/>
          </a:xfrm>
          <a:prstGeom prst="ellipse">
            <a:avLst/>
          </a:prstGeom>
          <a:solidFill>
            <a:srgbClr val="F0A22E"/>
          </a:solidFill>
          <a:ln w="12700">
            <a:solidFill>
              <a:srgbClr val="F0A2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30449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probability ≈ 100%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4251960"/>
            <a:ext cx="2560320" cy="347472"/>
          </a:xfrm>
          <a:prstGeom prst="rect">
            <a:avLst/>
          </a:prstGeom>
          <a:solidFill>
            <a:srgbClr val="F0A22E"/>
          </a:solidFill>
          <a:ln w="12700">
            <a:solidFill>
              <a:srgbClr val="F0A2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251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DETECTED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18688" y="914400"/>
            <a:ext cx="2834640" cy="3931920"/>
          </a:xfrm>
          <a:prstGeom prst="rect">
            <a:avLst/>
          </a:prstGeom>
          <a:solidFill>
            <a:srgbClr val="0D2E2B"/>
          </a:solidFill>
          <a:ln w="19050">
            <a:solidFill>
              <a:srgbClr val="1DB8A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18688" y="914400"/>
            <a:ext cx="2834640" cy="502920"/>
          </a:xfrm>
          <a:prstGeom prst="rect">
            <a:avLst/>
          </a:prstGeom>
          <a:solidFill>
            <a:srgbClr val="1DB8A5"/>
          </a:solidFill>
          <a:ln w="12700">
            <a:solidFill>
              <a:srgbClr val="1DB8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914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Fixed Basis Attack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46704" y="1572768"/>
            <a:ext cx="128016" cy="128016"/>
          </a:xfrm>
          <a:prstGeom prst="ellipse">
            <a:avLst/>
          </a:prstGeom>
          <a:solidFill>
            <a:srgbClr val="1DB8A5"/>
          </a:solidFill>
          <a:ln w="12700">
            <a:solidFill>
              <a:srgbClr val="1DB8A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547872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always uses '+' (rectilinear) basis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28416" y="2160797"/>
            <a:ext cx="128016" cy="128016"/>
          </a:xfrm>
          <a:prstGeom prst="ellipse">
            <a:avLst/>
          </a:prstGeom>
          <a:solidFill>
            <a:srgbClr val="1DB8A5"/>
          </a:solidFill>
          <a:ln w="12700">
            <a:solidFill>
              <a:srgbClr val="1DB8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20391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classical measurement attempt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46704" y="2645429"/>
            <a:ext cx="128016" cy="128016"/>
          </a:xfrm>
          <a:prstGeom prst="ellipse">
            <a:avLst/>
          </a:prstGeom>
          <a:solidFill>
            <a:srgbClr val="1DB8A5"/>
          </a:solidFill>
          <a:ln w="12700">
            <a:solidFill>
              <a:srgbClr val="1DB8A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47872" y="25420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for ~50% of qubits (those set to '×')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46704" y="3170155"/>
            <a:ext cx="128016" cy="128016"/>
          </a:xfrm>
          <a:prstGeom prst="ellipse">
            <a:avLst/>
          </a:prstGeom>
          <a:solidFill>
            <a:srgbClr val="1DB8A5"/>
          </a:solidFill>
          <a:ln w="12700">
            <a:solidFill>
              <a:srgbClr val="1DB8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30449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fidelity ≈ 0.65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5848" y="4251960"/>
            <a:ext cx="2560320" cy="347472"/>
          </a:xfrm>
          <a:prstGeom prst="rect">
            <a:avLst/>
          </a:prstGeom>
          <a:solidFill>
            <a:srgbClr val="1DB8A5"/>
          </a:solidFill>
          <a:ln w="12700">
            <a:solidFill>
              <a:srgbClr val="1DB8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4251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~85–95% DETECTED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63056" y="914400"/>
            <a:ext cx="2834640" cy="3931920"/>
          </a:xfrm>
          <a:prstGeom prst="rect">
            <a:avLst/>
          </a:prstGeom>
          <a:solidFill>
            <a:srgbClr val="1A1430"/>
          </a:solidFill>
          <a:ln w="19050">
            <a:solidFill>
              <a:srgbClr val="7C5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914400"/>
            <a:ext cx="2834640" cy="502920"/>
          </a:xfrm>
          <a:prstGeom prst="rect">
            <a:avLst/>
          </a:prstGeom>
          <a:solidFill>
            <a:srgbClr val="7C5AF0"/>
          </a:solidFill>
          <a:ln w="12700">
            <a:solidFill>
              <a:srgbClr val="7C5A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914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⧫  Clone Attempt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81928" y="1655064"/>
            <a:ext cx="128016" cy="128016"/>
          </a:xfrm>
          <a:prstGeom prst="ellipse">
            <a:avLst/>
          </a:prstGeom>
          <a:solidFill>
            <a:srgbClr val="7C5AF0"/>
          </a:solidFill>
          <a:ln w="12700">
            <a:solidFill>
              <a:srgbClr val="7C5A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tries to copy qubit before measuring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73487" y="2167128"/>
            <a:ext cx="128016" cy="128016"/>
          </a:xfrm>
          <a:prstGeom prst="ellipse">
            <a:avLst/>
          </a:prstGeom>
          <a:solidFill>
            <a:srgbClr val="7C5AF0"/>
          </a:solidFill>
          <a:ln w="12700">
            <a:solidFill>
              <a:srgbClr val="7C5A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20391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No-Cloning Theorem: all copies are imperfect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91072" y="2633472"/>
            <a:ext cx="128016" cy="128016"/>
          </a:xfrm>
          <a:prstGeom prst="ellipse">
            <a:avLst/>
          </a:prstGeom>
          <a:solidFill>
            <a:srgbClr val="7C5AF0"/>
          </a:solidFill>
          <a:ln w="12700">
            <a:solidFill>
              <a:srgbClr val="7C5A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25420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as extra fidelity decoherence factor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83335" y="3163824"/>
            <a:ext cx="128016" cy="128016"/>
          </a:xfrm>
          <a:prstGeom prst="ellipse">
            <a:avLst/>
          </a:prstGeom>
          <a:solidFill>
            <a:srgbClr val="7C5AF0"/>
          </a:solidFill>
          <a:ln w="12700">
            <a:solidFill>
              <a:srgbClr val="7C5A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30449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LOWEST fidelity of all three attacks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00216" y="4251960"/>
            <a:ext cx="2560320" cy="347472"/>
          </a:xfrm>
          <a:prstGeom prst="rect">
            <a:avLst/>
          </a:prstGeom>
          <a:solidFill>
            <a:srgbClr val="7C5AF0"/>
          </a:solidFill>
          <a:ln w="12700">
            <a:solidFill>
              <a:srgbClr val="7C5A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0216" y="4251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DETECTED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Implementation — Key Functions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097280" cy="4572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4160520" cy="320040"/>
          </a:xfrm>
          <a:prstGeom prst="rect">
            <a:avLst/>
          </a:prstGeom>
          <a:solidFill>
            <a:srgbClr val="262C3A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100584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1005840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100584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4160520" cy="3657600"/>
          </a:xfrm>
          <a:prstGeom prst="rect">
            <a:avLst/>
          </a:prstGeom>
          <a:solidFill>
            <a:srgbClr val="060A12"/>
          </a:solidFill>
          <a:ln w="12700">
            <a:solidFill>
              <a:srgbClr val="2A3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" y="1280160"/>
            <a:ext cx="38404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generate_honeypot_token()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range(n_tripwires):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qc = QuantumCircuit(1, 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basis = random.choice(['+','×'])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basis_key.append(basis)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Create superposition tripwire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qc.h(0)        # |0⟩ → |+⟩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basis == '×':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qc.x(0)      # diagonal variant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qc.h(0)      # |1⟩ → |−⟩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tripwires.append(qc)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914400"/>
            <a:ext cx="4160520" cy="320040"/>
          </a:xfrm>
          <a:prstGeom prst="rect">
            <a:avLst/>
          </a:prstGeom>
          <a:solidFill>
            <a:srgbClr val="262C3A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00584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01768" y="1005840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02936" y="100584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90872" y="1234440"/>
            <a:ext cx="4160520" cy="3657600"/>
          </a:xfrm>
          <a:prstGeom prst="rect">
            <a:avLst/>
          </a:prstGeom>
          <a:solidFill>
            <a:srgbClr val="060A12"/>
          </a:solidFill>
          <a:ln w="12700">
            <a:solidFill>
              <a:srgbClr val="2A3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37176" y="1280160"/>
            <a:ext cx="38404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Fidelity alarm check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original_sv = Statevector.from_label('0')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decode_qc = qc.copy()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Correct basis decoding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basis == '×':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decode_qc.h(0)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decode_qc.x(0)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decode_qc.h(0)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result_sv = Statevector(decode_qc)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fidelity = state_fidelity(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original_sv, result_sv)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ALARM if fidelity &lt; 0.85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fidelity &lt; THRESHOLD: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F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trigger_alert()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60704" y="987552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4C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generate_honeypot_token()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04104" y="987552"/>
            <a:ext cx="2944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4C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fidelity_alarm_check()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Fidelity Analysis (30 Trials Each)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097280" cy="4572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2057400" cy="1207008"/>
          </a:xfrm>
          <a:prstGeom prst="rect">
            <a:avLst/>
          </a:prstGeom>
          <a:solidFill>
            <a:srgbClr val="0A2015"/>
          </a:solidFill>
          <a:ln w="19050">
            <a:solidFill>
              <a:srgbClr val="1FBC6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057400" cy="36576"/>
          </a:xfrm>
          <a:prstGeom prst="rect">
            <a:avLst/>
          </a:prstGeom>
          <a:solidFill>
            <a:srgbClr val="1FBC6E"/>
          </a:solidFill>
          <a:ln w="12700">
            <a:solidFill>
              <a:srgbClr val="1FB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875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B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84048" y="1517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 Fidelity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700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alarm triggered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0592" y="914400"/>
            <a:ext cx="2057400" cy="1207008"/>
          </a:xfrm>
          <a:prstGeom prst="rect">
            <a:avLst/>
          </a:prstGeom>
          <a:solidFill>
            <a:srgbClr val="3D1A14"/>
          </a:solidFill>
          <a:ln w="19050">
            <a:solidFill>
              <a:srgbClr val="E852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914400"/>
            <a:ext cx="2057400" cy="36576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9875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0320" y="1517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1700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detection rate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26864" y="914400"/>
            <a:ext cx="2057400" cy="1207008"/>
          </a:xfrm>
          <a:prstGeom prst="rect">
            <a:avLst/>
          </a:prstGeom>
          <a:solidFill>
            <a:srgbClr val="2A1E08"/>
          </a:solidFill>
          <a:ln w="19050">
            <a:solidFill>
              <a:srgbClr val="F0A2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914400"/>
            <a:ext cx="2057400" cy="36576"/>
          </a:xfrm>
          <a:prstGeom prst="rect">
            <a:avLst/>
          </a:prstGeom>
          <a:solidFill>
            <a:srgbClr val="F0A22E"/>
          </a:solidFill>
          <a:ln w="12700">
            <a:solidFill>
              <a:srgbClr val="F0A2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9875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36592" y="1517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Basis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36592" y="1700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detection rate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03136" y="914400"/>
            <a:ext cx="2057400" cy="1207008"/>
          </a:xfrm>
          <a:prstGeom prst="rect">
            <a:avLst/>
          </a:prstGeom>
          <a:solidFill>
            <a:srgbClr val="1A1430"/>
          </a:solidFill>
          <a:ln w="19050">
            <a:solidFill>
              <a:srgbClr val="7C5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914400"/>
            <a:ext cx="2057400" cy="36576"/>
          </a:xfrm>
          <a:prstGeom prst="rect">
            <a:avLst/>
          </a:prstGeom>
          <a:solidFill>
            <a:srgbClr val="7C5AF0"/>
          </a:solidFill>
          <a:ln w="12700">
            <a:solidFill>
              <a:srgbClr val="7C5A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12864" y="9875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C5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~0.25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912864" y="1517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Attempt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12864" y="1700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detection rate</a:t>
            </a:r>
            <a:endParaRPr lang="en-US" sz="85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274320" y="2240280"/>
          <a:ext cx="52120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Text 22"/>
          <p:cNvSpPr/>
          <p:nvPr/>
        </p:nvSpPr>
        <p:spPr>
          <a:xfrm>
            <a:off x="5669280" y="22311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Summary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669280" y="2606040"/>
            <a:ext cx="31546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15584" y="26334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(legit)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955280" y="26334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B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669280" y="3154680"/>
            <a:ext cx="31546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15584" y="31821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Basis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955280" y="31821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669280" y="3703320"/>
            <a:ext cx="31546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15584" y="37307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Basis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955280" y="37307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669280" y="4251960"/>
            <a:ext cx="31546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815584" y="42793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Attempt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955280" y="427939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5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274320" y="3168812"/>
            <a:ext cx="5212080" cy="0"/>
          </a:xfrm>
          <a:prstGeom prst="line">
            <a:avLst/>
          </a:prstGeom>
          <a:noFill/>
          <a:ln w="19050">
            <a:solidFill>
              <a:srgbClr val="FF4040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5120640" y="30316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0.85 threshold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Novel — Quantum vs Classical Honeypots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097280" cy="4572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380390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Honeypot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DB8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 Honeypot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read possible?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trivially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DB8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collapses qubit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Cloning possible?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bit-perfect copy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DB8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no-cloning theorem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forgery possible?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admin can wipe logs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DB8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quantum signature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basis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monitoring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DB8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Laws of physics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Attacker footprint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if careful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DB8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leaves fidelity trace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guarantee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 / heuristic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DB8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Information-theoretic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 computer safe?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— logs are classical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DB8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physics-based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097280" cy="4572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1828800"/>
            <a:ext cx="4114800" cy="4114800"/>
          </a:xfrm>
          <a:prstGeom prst="ellipse">
            <a:avLst/>
          </a:prstGeom>
          <a:solidFill>
            <a:srgbClr val="E8523A">
              <a:alpha val="12000"/>
            </a:srgbClr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2560320"/>
            <a:ext cx="2377440" cy="2377440"/>
          </a:xfrm>
          <a:prstGeom prst="ellipse">
            <a:avLst/>
          </a:prstGeom>
          <a:solidFill>
            <a:srgbClr val="E8523A">
              <a:alpha val="22000"/>
            </a:srgbClr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52120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DB8A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161288"/>
            <a:ext cx="457200" cy="457200"/>
          </a:xfrm>
          <a:prstGeom prst="ellipse">
            <a:avLst/>
          </a:prstGeom>
          <a:solidFill>
            <a:srgbClr val="1DB8A5"/>
          </a:solidFill>
          <a:ln w="12700">
            <a:solidFill>
              <a:srgbClr val="1DB8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61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10515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QKD Basis Distribution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13258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full BB84 quantum key distribution protocol between server and legitimate users, removing the secure side-channel assumption.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947672"/>
            <a:ext cx="52120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0A2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" y="2148840"/>
            <a:ext cx="457200" cy="457200"/>
          </a:xfrm>
          <a:prstGeom prst="ellipse">
            <a:avLst/>
          </a:prstGeom>
          <a:solidFill>
            <a:srgbClr val="F0A22E"/>
          </a:solidFill>
          <a:ln w="12700">
            <a:solidFill>
              <a:srgbClr val="F0A2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7552" y="20391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IBM Quantum Hardware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23134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QuantumGuard on IBM Quantum hardware and measure threshold calibration needed to account for real-world decoherence and gate noise.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935224"/>
            <a:ext cx="52120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7C5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" y="3136392"/>
            <a:ext cx="457200" cy="457200"/>
          </a:xfrm>
          <a:prstGeom prst="ellipse">
            <a:avLst/>
          </a:prstGeom>
          <a:solidFill>
            <a:srgbClr val="7C5AF0"/>
          </a:solidFill>
          <a:ln w="12700">
            <a:solidFill>
              <a:srgbClr val="7C5A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7552" y="302666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5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Fidelity Threshold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7552" y="33009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dynamic threshold adjustment based on observed fidelity variance, improving detection of fixed-basis attackers without increasing false positives.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922776"/>
            <a:ext cx="52120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E8523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" y="4123944"/>
            <a:ext cx="457200" cy="457200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87552" y="401421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Bell-State Tripwires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7552" y="428853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entangled qubit pairs (Bell states) for cross-qubit correlation detection, making it harder for an attacker to probe individual qubits independently.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097280" cy="4572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87552"/>
            <a:ext cx="347472" cy="347472"/>
          </a:xfrm>
          <a:prstGeom prst="ellipse">
            <a:avLst/>
          </a:prstGeom>
          <a:solidFill>
            <a:srgbClr val="1DB8A5"/>
          </a:solidFill>
          <a:ln w="12700">
            <a:solidFill>
              <a:srgbClr val="1DB8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914400"/>
            <a:ext cx="8001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DB8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932688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the first Qiskit-based Quantum Honeypot with qubit tripwires embedded in realistic fake credentials.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347472" cy="347472"/>
          </a:xfrm>
          <a:prstGeom prst="ellipse">
            <a:avLst/>
          </a:prstGeom>
          <a:solidFill>
            <a:srgbClr val="1FBC6E"/>
          </a:solidFill>
          <a:ln w="12700">
            <a:solidFill>
              <a:srgbClr val="1FBC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1664208"/>
            <a:ext cx="8001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FBC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682496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physics-guaranteed intrusion detection using No-Cloning Theorem + Observer Effect — guarantees are information-theoretic, not computational.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487168"/>
            <a:ext cx="347472" cy="347472"/>
          </a:xfrm>
          <a:prstGeom prst="ellipse">
            <a:avLst/>
          </a:prstGeom>
          <a:solidFill>
            <a:srgbClr val="F0A22E"/>
          </a:solidFill>
          <a:ln w="12700">
            <a:solidFill>
              <a:srgbClr val="F0A2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2414016"/>
            <a:ext cx="8001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0A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432304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75–100% detection rate across 3 attack strategies with 0% false positive rate for legitimate users across all 30 trials.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236976"/>
            <a:ext cx="347472" cy="347472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3163824"/>
            <a:ext cx="8001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182112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that silent honeypot access is physically impossible with quantum tripwires — any read disturbs the state detectably.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986784"/>
            <a:ext cx="347472" cy="347472"/>
          </a:xfrm>
          <a:prstGeom prst="ellipse">
            <a:avLst/>
          </a:prstGeom>
          <a:solidFill>
            <a:srgbClr val="7C5AF0"/>
          </a:solidFill>
          <a:ln w="12700">
            <a:solidFill>
              <a:srgbClr val="7C5A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3913632"/>
            <a:ext cx="8001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7C5A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931920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 First application of quantum state fidelity as a honeypot alarm signal — a new paradigm for hardware-level cybersecurity.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0" y="3840480"/>
            <a:ext cx="3474720" cy="3474720"/>
          </a:xfrm>
          <a:prstGeom prst="ellipse">
            <a:avLst/>
          </a:prstGeom>
          <a:solidFill>
            <a:srgbClr val="E8523A">
              <a:alpha val="12000"/>
            </a:srgbClr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4480560"/>
            <a:ext cx="1828800" cy="1828800"/>
          </a:xfrm>
          <a:prstGeom prst="ellipse">
            <a:avLst/>
          </a:prstGeom>
          <a:solidFill>
            <a:srgbClr val="E8523A">
              <a:alpha val="22000"/>
            </a:srgbClr>
          </a:solidFill>
          <a:ln w="12700">
            <a:solidFill>
              <a:srgbClr val="E8523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743200"/>
            <a:ext cx="5029200" cy="5029200"/>
          </a:xfrm>
          <a:prstGeom prst="ellipse">
            <a:avLst/>
          </a:prstGeom>
          <a:solidFill>
            <a:srgbClr val="E8523A">
              <a:alpha val="18000"/>
            </a:srgbClr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755648"/>
            <a:ext cx="4572000" cy="4572000"/>
          </a:xfrm>
          <a:prstGeom prst="ellipse">
            <a:avLst/>
          </a:prstGeom>
          <a:solidFill>
            <a:srgbClr val="1DB8A5">
              <a:alpha val="14000"/>
            </a:srgbClr>
          </a:solidFill>
          <a:ln w="12700">
            <a:solidFill>
              <a:srgbClr val="1DB8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73552"/>
            <a:ext cx="2743200" cy="2743200"/>
          </a:xfrm>
          <a:prstGeom prst="ellipse">
            <a:avLst/>
          </a:prstGeom>
          <a:solidFill>
            <a:srgbClr val="E8523A">
              <a:alpha val="22000"/>
            </a:srgbClr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554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371600" y="270662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QuantumGuard — Tripwire-Based Intrusion Detection Using Quantum Honeypots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3273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Verma · Rohit Bhagat · Ankit Raj · Ayan Ashraf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35844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5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COEP Technological University, Pune  ·  AY 2025–2026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4297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E8523A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5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1211</Words>
  <Application>Microsoft Office PowerPoint</Application>
  <PresentationFormat>On-screen Show (16:9)</PresentationFormat>
  <Paragraphs>234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QuantumGuard — Quantum Honeypot System</dc:title>
  <dc:subject>PptxGenJS Presentation</dc:subject>
  <dc:creator>PptxGenJS</dc:creator>
  <cp:lastModifiedBy>AMAN PAWAN VERMA</cp:lastModifiedBy>
  <cp:revision>2</cp:revision>
  <dcterms:created xsi:type="dcterms:W3CDTF">2026-05-09T05:55:02Z</dcterms:created>
  <dcterms:modified xsi:type="dcterms:W3CDTF">2026-05-09T06:00:26Z</dcterms:modified>
</cp:coreProperties>
</file>