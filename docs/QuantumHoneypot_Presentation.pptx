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99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7703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68AA8-76A4-6790-AD12-371652051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46BF59-AF1B-B06E-F1FE-3AFEA8ECCB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0DB00A-BA65-2D1E-941E-0905255537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64650-5944-B684-865D-C5717CB869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472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4864" cy="54864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9848" y="228600"/>
            <a:ext cx="54864" cy="54864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19656" y="228600"/>
            <a:ext cx="54864" cy="54864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9464" y="228600"/>
            <a:ext cx="54864" cy="54864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19272" y="228600"/>
            <a:ext cx="54864" cy="54864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69080" y="228600"/>
            <a:ext cx="54864" cy="54864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18888" y="228600"/>
            <a:ext cx="54864" cy="54864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68696" y="228600"/>
            <a:ext cx="54864" cy="54864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18504" y="228600"/>
            <a:ext cx="54864" cy="54864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68312" y="228600"/>
            <a:ext cx="54864" cy="54864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228600"/>
            <a:ext cx="54864" cy="54864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67928" y="228600"/>
            <a:ext cx="54864" cy="54864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9848" y="1325880"/>
            <a:ext cx="54864" cy="54864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19656" y="1325880"/>
            <a:ext cx="54864" cy="54864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9464" y="1325880"/>
            <a:ext cx="54864" cy="54864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9272" y="1325880"/>
            <a:ext cx="54864" cy="54864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69080" y="1325880"/>
            <a:ext cx="54864" cy="54864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18888" y="1325880"/>
            <a:ext cx="54864" cy="54864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68696" y="1325880"/>
            <a:ext cx="54864" cy="54864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18504" y="1325880"/>
            <a:ext cx="54864" cy="54864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68312" y="1325880"/>
            <a:ext cx="54864" cy="54864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18120" y="1325880"/>
            <a:ext cx="54864" cy="54864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67928" y="1325880"/>
            <a:ext cx="54864" cy="54864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9848" y="2423160"/>
            <a:ext cx="54864" cy="54864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19656" y="2423160"/>
            <a:ext cx="54864" cy="54864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19272" y="2423160"/>
            <a:ext cx="54864" cy="54864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69080" y="2423160"/>
            <a:ext cx="54864" cy="54864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68696" y="2423160"/>
            <a:ext cx="54864" cy="54864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18504" y="2423160"/>
            <a:ext cx="54864" cy="54864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18120" y="2423160"/>
            <a:ext cx="54864" cy="54864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67928" y="2423160"/>
            <a:ext cx="54864" cy="54864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69848" y="3520440"/>
            <a:ext cx="54864" cy="54864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819656" y="3520440"/>
            <a:ext cx="54864" cy="54864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19272" y="3520440"/>
            <a:ext cx="54864" cy="54864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069080" y="3520440"/>
            <a:ext cx="54864" cy="54864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18888" y="3520440"/>
            <a:ext cx="54864" cy="54864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568696" y="3520440"/>
            <a:ext cx="54864" cy="54864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18504" y="3520440"/>
            <a:ext cx="54864" cy="54864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068312" y="3520440"/>
            <a:ext cx="54864" cy="54864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18120" y="3520440"/>
            <a:ext cx="54864" cy="54864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567928" y="3520440"/>
            <a:ext cx="54864" cy="54864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7315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38328" y="515742"/>
            <a:ext cx="8412480" cy="129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Quantum</a:t>
            </a:r>
            <a:endParaRPr lang="en-US" sz="5200" dirty="0"/>
          </a:p>
        </p:txBody>
      </p:sp>
      <p:sp>
        <p:nvSpPr>
          <p:cNvPr id="54" name="Text 52"/>
          <p:cNvSpPr/>
          <p:nvPr/>
        </p:nvSpPr>
        <p:spPr>
          <a:xfrm>
            <a:off x="338328" y="1292982"/>
            <a:ext cx="8179660" cy="1860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Honeypot System</a:t>
            </a:r>
            <a:endParaRPr lang="en-US" sz="5200" dirty="0"/>
          </a:p>
        </p:txBody>
      </p:sp>
      <p:sp>
        <p:nvSpPr>
          <p:cNvPr id="55" name="Text 53"/>
          <p:cNvSpPr/>
          <p:nvPr/>
        </p:nvSpPr>
        <p:spPr>
          <a:xfrm>
            <a:off x="288388" y="311642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Tripwire-Based Intrusion Detection Using Quantum Physics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303261" y="3665633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No-Cloning Theorem  ·  Observer Effect  ·  Qiskit  ·  Python 3.x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303261" y="446294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Verma |  Ankit Raj |  Ayan Ashraf |  Rohit Bhagat   </a:t>
            </a:r>
            <a:endParaRPr lang="en-US" sz="1200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3D3B612A-3E84-F02D-19A0-3C3EC17894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0684" y="117184"/>
            <a:ext cx="960120" cy="1014892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4835617F-DFA1-7E8A-D21A-FA5364E6BDD6}"/>
              </a:ext>
            </a:extLst>
          </p:cNvPr>
          <p:cNvSpPr txBox="1"/>
          <p:nvPr/>
        </p:nvSpPr>
        <p:spPr>
          <a:xfrm>
            <a:off x="221214" y="4056553"/>
            <a:ext cx="3770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Group Members : 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086A2D3-DE64-83EF-E1B6-1DF473549F1A}"/>
              </a:ext>
            </a:extLst>
          </p:cNvPr>
          <p:cNvCxnSpPr>
            <a:cxnSpLocks/>
          </p:cNvCxnSpPr>
          <p:nvPr/>
        </p:nvCxnSpPr>
        <p:spPr>
          <a:xfrm>
            <a:off x="54864" y="4836120"/>
            <a:ext cx="8979408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69" name="Picture 68">
            <a:extLst>
              <a:ext uri="{FF2B5EF4-FFF2-40B4-BE49-F238E27FC236}">
                <a16:creationId xmlns:a16="http://schemas.microsoft.com/office/drawing/2014/main" id="{9855710F-851E-AB16-DDBD-CAF6D2DA7A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4540" y="266269"/>
            <a:ext cx="3080004" cy="8918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Big Idea — What is a Quantum Honeypot?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2850"/>
            <a:ext cx="3931920" cy="3794760"/>
          </a:xfrm>
          <a:prstGeom prst="rect">
            <a:avLst/>
          </a:prstGeom>
          <a:solidFill>
            <a:srgbClr val="FFF5F5"/>
          </a:solidFill>
          <a:ln w="254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931920" cy="5029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🍯  CLASSICAL HONEYPOT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8348" y="1824228"/>
            <a:ext cx="164592" cy="16459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459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can SILENTLY read the token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4082" y="2407158"/>
            <a:ext cx="164592" cy="16459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1965" y="22360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cloning of data is trivial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9357" y="2871216"/>
            <a:ext cx="164592" cy="16459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0662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logs can be wiped by attacker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7293" y="3408250"/>
            <a:ext cx="164592" cy="16459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77240" y="3236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= software monitoring only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8348" y="3947219"/>
            <a:ext cx="164592" cy="16459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76732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attacker leaves no trace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0" y="2697480"/>
            <a:ext cx="548640" cy="3474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26974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937760" y="1005840"/>
            <a:ext cx="3931920" cy="3794760"/>
          </a:xfrm>
          <a:prstGeom prst="rect">
            <a:avLst/>
          </a:prstGeom>
          <a:solidFill>
            <a:srgbClr val="F0FFF8"/>
          </a:solidFill>
          <a:ln w="254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1005840"/>
            <a:ext cx="3931920" cy="5029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0058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⚛  QUANTUM HONEYPOT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166360" y="1805588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22392" y="165928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collapses qubit state — detected!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49479" y="2345084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0680" y="217627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No-Cloning Theorem: copying is impossible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66360" y="2846598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40680" y="270662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signature cannot be forged/wiped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48072" y="3408250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0680" y="3236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= laws of physics, not software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166360" y="3939833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40680" y="376732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access is physically impossible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Quantum Physics Behind the Honeypot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2743200" cy="1719072"/>
          </a:xfrm>
          <a:prstGeom prst="rect">
            <a:avLst/>
          </a:prstGeom>
          <a:solidFill>
            <a:srgbClr val="16213E"/>
          </a:solidFill>
          <a:ln w="1905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097280"/>
            <a:ext cx="512064" cy="512064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97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0789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Qubit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25420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as α|0⟩+β|1⟩ — both states simultaneously. Reading it collapses to one state. Unlike a bit, reading is NOT passive.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18688" y="987552"/>
            <a:ext cx="2743200" cy="1719072"/>
          </a:xfrm>
          <a:prstGeom prst="rect">
            <a:avLst/>
          </a:prstGeom>
          <a:solidFill>
            <a:srgbClr val="16213E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28416" y="1097280"/>
            <a:ext cx="512064" cy="512064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28416" y="1097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50208" y="10789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Superposition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10128" y="1645920"/>
            <a:ext cx="25420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gate: |0⟩ → |+⟩=(|0⟩+|1⟩)/√2. The tripwire qubit is in this state — perfectly ordered, but invisible to classical inspection.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63056" y="987552"/>
            <a:ext cx="2743200" cy="1719072"/>
          </a:xfrm>
          <a:prstGeom prst="rect">
            <a:avLst/>
          </a:prstGeom>
          <a:solidFill>
            <a:srgbClr val="16213E"/>
          </a:solidFill>
          <a:ln w="1905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72784" y="1097280"/>
            <a:ext cx="512064" cy="512064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2784" y="1097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94576" y="10789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No-Cloning Theorem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54496" y="1645920"/>
            <a:ext cx="25420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(Wootters &amp; Zurek, 1982). Physically impossible to copy an unknown quantum state. An attacker CANNOT duplicate a tripwire.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907792"/>
            <a:ext cx="2743200" cy="1719072"/>
          </a:xfrm>
          <a:prstGeom prst="rect">
            <a:avLst/>
          </a:prstGeom>
          <a:solidFill>
            <a:srgbClr val="16213E"/>
          </a:solidFill>
          <a:ln w="1905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3017520"/>
            <a:ext cx="512064" cy="512064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017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29992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Observer Effect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3566160"/>
            <a:ext cx="25420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in the wrong basis collapses the qubit to a wrong state. ~50% of attacker guesses are wrong — each fires the alarm.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18688" y="2907792"/>
            <a:ext cx="2743200" cy="1719072"/>
          </a:xfrm>
          <a:prstGeom prst="rect">
            <a:avLst/>
          </a:prstGeom>
          <a:solidFill>
            <a:srgbClr val="16213E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28416" y="3017520"/>
            <a:ext cx="512064" cy="51206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28416" y="3017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950208" y="29992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Fidelity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10128" y="3566160"/>
            <a:ext cx="25420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F(ρ,σ) measures similarity of two quantum states. Legit user: F≈1.0. Attacker: F≈0.5. Threshold 0.85 → clean alarm boundary.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63056" y="2907792"/>
            <a:ext cx="2743200" cy="1719072"/>
          </a:xfrm>
          <a:prstGeom prst="rect">
            <a:avLst/>
          </a:prstGeom>
          <a:solidFill>
            <a:srgbClr val="16213E"/>
          </a:solidFill>
          <a:ln w="1905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72784" y="3017520"/>
            <a:ext cx="512064" cy="512064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72784" y="3017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94576" y="29992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Hadamard Gate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54496" y="3566160"/>
            <a:ext cx="25420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H|0⟩=|+⟩. The core gate that creates our tripwire superposition. Correct reversal by legit user restores state cleanly.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Honeypot Token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530352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530352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HONEYPOT TOKEN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4937760" cy="1005840"/>
          </a:xfrm>
          <a:prstGeom prst="rect">
            <a:avLst/>
          </a:prstGeom>
          <a:solidFill>
            <a:srgbClr val="FFF8E7"/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02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39C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CLASSICAL LAYER (visible to attacker)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resource: "DB_ADMIN_PASSWORD"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17627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value: "a3f8e2c1d9b7...24" (fake SHA-256)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743200"/>
            <a:ext cx="4937760" cy="1828800"/>
          </a:xfrm>
          <a:prstGeom prst="rect">
            <a:avLst/>
          </a:prstGeom>
          <a:solidFill>
            <a:srgbClr val="F0F8FF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7706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QUANTUM LAYER — TRIPWIRES (invisible classically)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" y="3182112"/>
            <a:ext cx="402336" cy="40233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182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</a:rPr>
              <a:t>⚛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" y="3630168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Q0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234440" y="3182112"/>
            <a:ext cx="402336" cy="402336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3182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</a:rPr>
              <a:t>⚛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79576" y="3630168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10512" y="3182112"/>
            <a:ext cx="402336" cy="40233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10512" y="3182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</a:rPr>
              <a:t>⚛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55648" y="3630168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386584" y="3182112"/>
            <a:ext cx="402336" cy="402336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86584" y="3182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</a:rPr>
              <a:t>⚛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331720" y="3630168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962656" y="3182112"/>
            <a:ext cx="402336" cy="402336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62656" y="3182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</a:rPr>
              <a:t>⚛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907792" y="3630168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538728" y="3182112"/>
            <a:ext cx="402336" cy="40233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38728" y="3182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</a:rPr>
              <a:t>⚛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83864" y="3630168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Q5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114800" y="3182112"/>
            <a:ext cx="402336" cy="402336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0" y="3182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</a:rPr>
              <a:t>⚛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059936" y="3630168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Q6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690872" y="3182112"/>
            <a:ext cx="402336" cy="402336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90872" y="3182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</a:rPr>
              <a:t>⚛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636008" y="3630168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Q7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94360" y="416966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qubit in |+⟩ superposition via H gate. Basis key is SECRET — only server knows.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806440" y="960120"/>
            <a:ext cx="3017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897880" y="10515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897880" y="1554480"/>
            <a:ext cx="292608" cy="29260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9788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1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91072" y="1508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creates token with N tripwire qubits in |+⟩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897880" y="2176272"/>
            <a:ext cx="292608" cy="29260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97880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2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91072" y="213055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deployed as bait. Basis key kept secret.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897880" y="2798064"/>
            <a:ext cx="292608" cy="29260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97880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3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291072" y="275234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reads token, must measure qubits.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897880" y="3419856"/>
            <a:ext cx="292608" cy="29260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97880" y="3419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4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291072" y="337413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basis → fidelity drops → alert fires!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897880" y="4041648"/>
            <a:ext cx="292608" cy="29260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97880" y="4041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5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291072" y="39959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 user has basis key → measures correctly.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Attacker Models Simulated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3840480"/>
          </a:xfrm>
          <a:prstGeom prst="rect">
            <a:avLst/>
          </a:prstGeom>
          <a:solidFill>
            <a:srgbClr val="16213E"/>
          </a:solidFill>
          <a:ln w="1905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743200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🎲  Random Basis Attack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5196" y="1655064"/>
            <a:ext cx="164592" cy="16459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527048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randomly guesses '+' or '×' for each qubit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5946" y="2320114"/>
            <a:ext cx="164592" cy="16459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121408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probability per qubit = 50%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5946" y="2902868"/>
            <a:ext cx="164592" cy="16459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715768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average fidelity ≈ 0.50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5196" y="3469445"/>
            <a:ext cx="164592" cy="16459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310128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probability ≈ 100%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4041648"/>
            <a:ext cx="2468880" cy="4114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40416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ALWAYS DETECTED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27832" y="960120"/>
            <a:ext cx="2743200" cy="3840480"/>
          </a:xfrm>
          <a:prstGeom prst="rect">
            <a:avLst/>
          </a:prstGeom>
          <a:solidFill>
            <a:srgbClr val="16213E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27832" y="960120"/>
            <a:ext cx="2743200" cy="4572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27832" y="960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 Fixed Basis Attack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64992" y="1705356"/>
            <a:ext cx="164592" cy="1645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1527048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always uses '+' (rectilinear) basis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78708" y="2243797"/>
            <a:ext cx="164592" cy="1645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2121408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to classical measurement attempt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78708" y="2885987"/>
            <a:ext cx="164592" cy="1645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11880" y="2715768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for ~50% of qubits (those set to '×')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78708" y="3503207"/>
            <a:ext cx="164592" cy="1645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3310128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fidelity ≈ 0.65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64992" y="4041648"/>
            <a:ext cx="2468880" cy="4114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64992" y="40416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~85–95% DETECTED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81344" y="960120"/>
            <a:ext cx="2743200" cy="3840480"/>
          </a:xfrm>
          <a:prstGeom prst="rect">
            <a:avLst/>
          </a:prstGeom>
          <a:solidFill>
            <a:srgbClr val="16213E"/>
          </a:solidFill>
          <a:ln w="1905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81344" y="960120"/>
            <a:ext cx="2743200" cy="4572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81344" y="960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Clone Attempt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18504" y="1637479"/>
            <a:ext cx="164592" cy="164592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65392" y="1527048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tries to copy qubit before measuring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18504" y="2221992"/>
            <a:ext cx="164592" cy="164592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65392" y="2121408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No-Cloning Theorem: all copies are imperfect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09360" y="2829013"/>
            <a:ext cx="164592" cy="164592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65392" y="2715768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as extra fidelity decoherence factor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23428" y="3435330"/>
            <a:ext cx="164592" cy="164592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65392" y="3310128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LOWEST fidelity of all three attacks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18504" y="4041648"/>
            <a:ext cx="2468880" cy="4114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18504" y="40416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ALWAYS DETECTED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122"/>
          </a:solidFill>
          <a:ln w="12700">
            <a:solidFill>
              <a:srgbClr val="2222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Qiskit Implementation — Key Functions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6052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784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generate_honeypot_token()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1325880"/>
            <a:ext cx="4069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range(n_tripwires):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qc = QuantumCircuit(1, 1)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basis = random.choice(['+','×'])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basis_key.append(basis)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Create superposition tripwire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qc.h(0)  # |0⟩ → |+⟩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basis == '×':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qc.x(0) # diagonal variant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qc.h(0) # |1⟩ → |−⟩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tripwires.append(qc)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09160" y="914400"/>
            <a:ext cx="416052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9784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Fidelity alarm check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1325880"/>
            <a:ext cx="4069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original_sv = Statevector.from_label('0')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decode_qc = qc.copy()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Correct basis decoding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basis == '×':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decode_qc.h(0)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decode_qc.x(0)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decode_qc.h(0)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result_sv = Statevector(decode_qc)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fidelity = state_fidelity(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original_sv, result_sv)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ALARM if fidelity &lt; 0.85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fidelity &lt; THRESHOLD: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trigger_alert()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— Fidelity Analysis (30 Trials Each)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93392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1993392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~1.00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4320" y="187452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 Fidelity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19456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alarm triggered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50592" y="960120"/>
            <a:ext cx="1993392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960120"/>
            <a:ext cx="1993392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1143000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~0.50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450592" y="187452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Basis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50592" y="219456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detection rate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960120"/>
            <a:ext cx="1993392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960120"/>
            <a:ext cx="1993392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1143000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39C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~0.65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626864" y="187452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Basis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26864" y="219456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 detection rate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03136" y="960120"/>
            <a:ext cx="1993392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960120"/>
            <a:ext cx="1993392" cy="7315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1143000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~0.25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803136" y="187452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Attempt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03136" y="219456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detection rate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277939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Fidelity vs. Alert Threshold (0.85)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84048" y="3531108"/>
            <a:ext cx="1170432" cy="13258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31012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" y="4893564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801368" y="4194048"/>
            <a:ext cx="1170432" cy="6629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01368" y="391972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764792" y="4893564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Attack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18688" y="3995166"/>
            <a:ext cx="1170432" cy="86182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18688" y="372084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182112" y="4893564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Attack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36008" y="4525518"/>
            <a:ext cx="1170432" cy="33147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36008" y="425119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99432" y="4893564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Attempt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74320" y="3126867"/>
            <a:ext cx="5394960" cy="0"/>
          </a:xfrm>
          <a:prstGeom prst="line">
            <a:avLst/>
          </a:prstGeom>
          <a:noFill/>
          <a:ln w="31750">
            <a:solidFill>
              <a:srgbClr val="1A1A2E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251460" y="31638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0.85 threshold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859780" y="2907792"/>
            <a:ext cx="3017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897880" y="298094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 Summary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897880" y="3383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(legit)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955280" y="33832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897880" y="37307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Basis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955280" y="373075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897880" y="407822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Basis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955280" y="407822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897880" y="442569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Attempt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955280" y="4425696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is Novel — Quantum vs Classical Honeypots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50392"/>
            <a:ext cx="2926080" cy="457200"/>
          </a:xfrm>
          <a:prstGeom prst="rect">
            <a:avLst/>
          </a:prstGeom>
          <a:solidFill>
            <a:srgbClr val="1A1A2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850392"/>
            <a:ext cx="2834640" cy="457200"/>
          </a:xfrm>
          <a:prstGeom prst="rect">
            <a:avLst/>
          </a:prstGeom>
          <a:solidFill>
            <a:srgbClr val="C0392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0" y="850392"/>
            <a:ext cx="2834640" cy="457200"/>
          </a:xfrm>
          <a:prstGeom prst="rect">
            <a:avLst/>
          </a:prstGeom>
          <a:solidFill>
            <a:srgbClr val="1A3A1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6868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86868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Honeypot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0" y="86868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Honeypot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357884"/>
            <a:ext cx="2926080" cy="45720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357884"/>
            <a:ext cx="2834640" cy="457200"/>
          </a:xfrm>
          <a:prstGeom prst="rect">
            <a:avLst/>
          </a:prstGeom>
          <a:solidFill>
            <a:srgbClr val="FFF0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357884"/>
            <a:ext cx="2834640" cy="457200"/>
          </a:xfrm>
          <a:prstGeom prst="rect">
            <a:avLst/>
          </a:prstGeom>
          <a:solidFill>
            <a:srgbClr val="F0FF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37617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read possible?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91840" y="137617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trivially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26480" y="137617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collapses qubit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1865376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1865376"/>
            <a:ext cx="2834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1865376"/>
            <a:ext cx="2834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188366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Cloning possible?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91840" y="188366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bit-perfect copy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26480" y="188366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no-cloning theorem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372868"/>
            <a:ext cx="2926080" cy="45720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2372868"/>
            <a:ext cx="2834640" cy="457200"/>
          </a:xfrm>
          <a:prstGeom prst="rect">
            <a:avLst/>
          </a:prstGeom>
          <a:solidFill>
            <a:srgbClr val="FFF0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2372868"/>
            <a:ext cx="2834640" cy="457200"/>
          </a:xfrm>
          <a:prstGeom prst="rect">
            <a:avLst/>
          </a:prstGeom>
          <a:solidFill>
            <a:srgbClr val="F0FF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39115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forgery possible?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91840" y="239115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admin can wipe logs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26480" y="239115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quantum signature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2880360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2880360"/>
            <a:ext cx="2834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2880360"/>
            <a:ext cx="2834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89864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basis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291840" y="289864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monitoring only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26480" y="289864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 of physics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3387852"/>
            <a:ext cx="2926080" cy="45720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387852"/>
            <a:ext cx="2834640" cy="457200"/>
          </a:xfrm>
          <a:prstGeom prst="rect">
            <a:avLst/>
          </a:prstGeom>
          <a:solidFill>
            <a:srgbClr val="FFF0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387852"/>
            <a:ext cx="2834640" cy="457200"/>
          </a:xfrm>
          <a:prstGeom prst="rect">
            <a:avLst/>
          </a:prstGeom>
          <a:solidFill>
            <a:srgbClr val="F0FF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4061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footprint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291840" y="34061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if careful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26480" y="34061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leaves fidelity trace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" y="3895344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3895344"/>
            <a:ext cx="2834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3895344"/>
            <a:ext cx="2834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91363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guarantee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291840" y="391363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/ heuristic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126480" y="391363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Information-theoretic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74320" y="4402836"/>
            <a:ext cx="2926080" cy="45720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00400" y="4402836"/>
            <a:ext cx="2834640" cy="457200"/>
          </a:xfrm>
          <a:prstGeom prst="rect">
            <a:avLst/>
          </a:prstGeom>
          <a:solidFill>
            <a:srgbClr val="FFF0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35040" y="4402836"/>
            <a:ext cx="2834640" cy="457200"/>
          </a:xfrm>
          <a:prstGeom prst="rect">
            <a:avLst/>
          </a:prstGeom>
          <a:solidFill>
            <a:srgbClr val="F0FF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42112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computer safe?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3291840" y="442112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— logs are classical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126480" y="442112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physics-based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926080" cy="29260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3657600"/>
            <a:ext cx="2011680" cy="20116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051560"/>
            <a:ext cx="292608" cy="29260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51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" y="100584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1645920"/>
            <a:ext cx="292608" cy="29260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645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9808" y="160020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QKD Basis Distribution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47472" y="2240280"/>
            <a:ext cx="292608" cy="29260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9808" y="219456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IBM Quantum Hardware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47472" y="2834640"/>
            <a:ext cx="292608" cy="29260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9808" y="278892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Fidelity Threshold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347472" y="3429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9808" y="338328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" y="4005072"/>
            <a:ext cx="8046720" cy="0"/>
          </a:xfrm>
          <a:prstGeom prst="line">
            <a:avLst/>
          </a:prstGeom>
          <a:noFill/>
          <a:ln w="19050">
            <a:solidFill>
              <a:srgbClr val="3333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1330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44622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94576" y="44622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0DE79E-6C49-1C1F-5C94-40228346BEB1}"/>
              </a:ext>
            </a:extLst>
          </p:cNvPr>
          <p:cNvSpPr txBox="1"/>
          <p:nvPr/>
        </p:nvSpPr>
        <p:spPr>
          <a:xfrm>
            <a:off x="713232" y="1021638"/>
            <a:ext cx="6734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Bell-State Tripwires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508937-493C-5EA8-60A4-30FAE1D8B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877D3AC-ED22-682C-B2A6-5AC8E610F3BD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518935D-9E3E-911F-676C-BB647CE33839}"/>
              </a:ext>
            </a:extLst>
          </p:cNvPr>
          <p:cNvSpPr/>
          <p:nvPr/>
        </p:nvSpPr>
        <p:spPr>
          <a:xfrm>
            <a:off x="6858000" y="3200400"/>
            <a:ext cx="2926080" cy="29260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C87EC97-517B-F1F6-58D7-19699F08E0D4}"/>
              </a:ext>
            </a:extLst>
          </p:cNvPr>
          <p:cNvSpPr/>
          <p:nvPr/>
        </p:nvSpPr>
        <p:spPr>
          <a:xfrm>
            <a:off x="7315200" y="3657600"/>
            <a:ext cx="2011680" cy="20116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2C8ACA3-5215-3AB3-2DC6-D388D6FB0A39}"/>
              </a:ext>
            </a:extLst>
          </p:cNvPr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</a:t>
            </a:r>
            <a:endParaRPr lang="en-US" sz="2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DBA25E2-20BD-77AF-1D57-FFBE029A4073}"/>
              </a:ext>
            </a:extLst>
          </p:cNvPr>
          <p:cNvSpPr/>
          <p:nvPr/>
        </p:nvSpPr>
        <p:spPr>
          <a:xfrm>
            <a:off x="347472" y="1051560"/>
            <a:ext cx="292608" cy="29260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27D6540-E261-6172-6D4F-F261BC861D14}"/>
              </a:ext>
            </a:extLst>
          </p:cNvPr>
          <p:cNvSpPr/>
          <p:nvPr/>
        </p:nvSpPr>
        <p:spPr>
          <a:xfrm>
            <a:off x="347472" y="1051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✓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68C872C-38FD-2D76-2A7A-8DF8ACC71F6C}"/>
              </a:ext>
            </a:extLst>
          </p:cNvPr>
          <p:cNvSpPr/>
          <p:nvPr/>
        </p:nvSpPr>
        <p:spPr>
          <a:xfrm>
            <a:off x="749808" y="100584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implemented the first Qiskit-based Quantum Honeypot with qubit tripwires</a:t>
            </a:r>
            <a:endParaRPr lang="en-US" sz="12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6A5EAD9-E220-4E98-BF20-85999D1C77E8}"/>
              </a:ext>
            </a:extLst>
          </p:cNvPr>
          <p:cNvSpPr/>
          <p:nvPr/>
        </p:nvSpPr>
        <p:spPr>
          <a:xfrm>
            <a:off x="347472" y="1645920"/>
            <a:ext cx="292608" cy="29260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F33E43D-39AA-423D-9135-298DAD093BE9}"/>
              </a:ext>
            </a:extLst>
          </p:cNvPr>
          <p:cNvSpPr/>
          <p:nvPr/>
        </p:nvSpPr>
        <p:spPr>
          <a:xfrm>
            <a:off x="347472" y="1645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✓</a:t>
            </a:r>
            <a:endParaRPr lang="en-US" sz="1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DD34422-90D2-5972-6AAE-8D67B0DD75B7}"/>
              </a:ext>
            </a:extLst>
          </p:cNvPr>
          <p:cNvSpPr/>
          <p:nvPr/>
        </p:nvSpPr>
        <p:spPr>
          <a:xfrm>
            <a:off x="749808" y="160020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physics-guaranteed intrusion detection using No-Cloning + Observer Effect</a:t>
            </a:r>
            <a:endParaRPr lang="en-US" sz="12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0A16478-CD8F-7744-08BB-6FEDEF520AB8}"/>
              </a:ext>
            </a:extLst>
          </p:cNvPr>
          <p:cNvSpPr/>
          <p:nvPr/>
        </p:nvSpPr>
        <p:spPr>
          <a:xfrm>
            <a:off x="347472" y="2240280"/>
            <a:ext cx="292608" cy="29260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B45FC16-05E9-34AF-E15E-7C4A69D7970F}"/>
              </a:ext>
            </a:extLst>
          </p:cNvPr>
          <p:cNvSpPr/>
          <p:nvPr/>
        </p:nvSpPr>
        <p:spPr>
          <a:xfrm>
            <a:off x="347472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✓</a:t>
            </a:r>
            <a:endParaRPr lang="en-US" sz="1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38E74A1-3793-D9D5-BC45-34969D207F24}"/>
              </a:ext>
            </a:extLst>
          </p:cNvPr>
          <p:cNvSpPr/>
          <p:nvPr/>
        </p:nvSpPr>
        <p:spPr>
          <a:xfrm>
            <a:off x="749808" y="219456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75–100% detection rate across 3 attack strategies, 0% false positive rate</a:t>
            </a:r>
            <a:endParaRPr lang="en-US" sz="12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1DF0E9C-7ED7-92EB-C4B0-B8042476597C}"/>
              </a:ext>
            </a:extLst>
          </p:cNvPr>
          <p:cNvSpPr/>
          <p:nvPr/>
        </p:nvSpPr>
        <p:spPr>
          <a:xfrm>
            <a:off x="347472" y="2834640"/>
            <a:ext cx="292608" cy="29260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15B2C9F-95F0-4848-77C3-197EA67B1172}"/>
              </a:ext>
            </a:extLst>
          </p:cNvPr>
          <p:cNvSpPr/>
          <p:nvPr/>
        </p:nvSpPr>
        <p:spPr>
          <a:xfrm>
            <a:off x="347472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✓</a:t>
            </a:r>
            <a:endParaRPr lang="en-US" sz="1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A1F6E19-CCF1-B865-8EFA-6C0BBE3B62F6}"/>
              </a:ext>
            </a:extLst>
          </p:cNvPr>
          <p:cNvSpPr/>
          <p:nvPr/>
        </p:nvSpPr>
        <p:spPr>
          <a:xfrm>
            <a:off x="749808" y="278892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that silent honeypot access is physically impossible with quantum tripwires</a:t>
            </a:r>
            <a:endParaRPr lang="en-US" sz="12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5A31639-37F1-18C5-07E2-4765D3CF0AA8}"/>
              </a:ext>
            </a:extLst>
          </p:cNvPr>
          <p:cNvSpPr/>
          <p:nvPr/>
        </p:nvSpPr>
        <p:spPr>
          <a:xfrm>
            <a:off x="347472" y="3429000"/>
            <a:ext cx="292608" cy="29260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7E0E10F-A805-86B6-B4A8-B656289F6466}"/>
              </a:ext>
            </a:extLst>
          </p:cNvPr>
          <p:cNvSpPr/>
          <p:nvPr/>
        </p:nvSpPr>
        <p:spPr>
          <a:xfrm>
            <a:off x="347472" y="3429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✓</a:t>
            </a:r>
            <a:endParaRPr lang="en-US" sz="1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5202A91-BB51-DC58-1C5C-689C917B5E3D}"/>
              </a:ext>
            </a:extLst>
          </p:cNvPr>
          <p:cNvSpPr/>
          <p:nvPr/>
        </p:nvSpPr>
        <p:spPr>
          <a:xfrm>
            <a:off x="749808" y="338328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Contribution: first application of quantum fidelity as a honeypot alarm signal</a:t>
            </a:r>
            <a:endParaRPr lang="en-US" sz="12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CF034556-9D3E-39E1-055F-95F3D8D527F1}"/>
              </a:ext>
            </a:extLst>
          </p:cNvPr>
          <p:cNvSpPr/>
          <p:nvPr/>
        </p:nvSpPr>
        <p:spPr>
          <a:xfrm>
            <a:off x="347472" y="4005072"/>
            <a:ext cx="8046720" cy="0"/>
          </a:xfrm>
          <a:prstGeom prst="line">
            <a:avLst/>
          </a:prstGeom>
          <a:noFill/>
          <a:ln w="19050">
            <a:solidFill>
              <a:srgbClr val="333355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1D98BD8-7FEA-DD66-2A11-AADD94177932}"/>
              </a:ext>
            </a:extLst>
          </p:cNvPr>
          <p:cNvSpPr/>
          <p:nvPr/>
        </p:nvSpPr>
        <p:spPr>
          <a:xfrm>
            <a:off x="365760" y="41330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9DD86CC-DB75-BBA0-164C-E1A3CDA5C7E8}"/>
              </a:ext>
            </a:extLst>
          </p:cNvPr>
          <p:cNvSpPr/>
          <p:nvPr/>
        </p:nvSpPr>
        <p:spPr>
          <a:xfrm>
            <a:off x="365760" y="44622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52C9989-D505-754F-5775-6649DF38F6F9}"/>
              </a:ext>
            </a:extLst>
          </p:cNvPr>
          <p:cNvSpPr/>
          <p:nvPr/>
        </p:nvSpPr>
        <p:spPr>
          <a:xfrm>
            <a:off x="2542032" y="44622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943F1C9-F538-BA04-B245-7F701EA9D099}"/>
              </a:ext>
            </a:extLst>
          </p:cNvPr>
          <p:cNvSpPr/>
          <p:nvPr/>
        </p:nvSpPr>
        <p:spPr>
          <a:xfrm>
            <a:off x="4718304" y="44622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CEE3888-900C-10F1-E3B1-B743F42E3504}"/>
              </a:ext>
            </a:extLst>
          </p:cNvPr>
          <p:cNvSpPr/>
          <p:nvPr/>
        </p:nvSpPr>
        <p:spPr>
          <a:xfrm>
            <a:off x="6894576" y="44622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215885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1371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1371600"/>
            <a:ext cx="3291840" cy="256032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1645920"/>
            <a:ext cx="2560320" cy="2011680"/>
          </a:xfrm>
          <a:prstGeom prst="ellipse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-53340" y="2084832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0" y="2697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0" y="333756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3703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1011</Words>
  <Application>Microsoft Office PowerPoint</Application>
  <PresentationFormat>On-screen Show (16:9)</PresentationFormat>
  <Paragraphs>222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Honeypot System</dc:title>
  <dc:subject>PptxGenJS Presentation</dc:subject>
  <dc:creator>PptxGenJS</dc:creator>
  <cp:lastModifiedBy>AMAN PAWAN VERMA</cp:lastModifiedBy>
  <cp:revision>4</cp:revision>
  <dcterms:created xsi:type="dcterms:W3CDTF">2026-03-15T17:04:06Z</dcterms:created>
  <dcterms:modified xsi:type="dcterms:W3CDTF">2026-03-16T09:58:16Z</dcterms:modified>
</cp:coreProperties>
</file>