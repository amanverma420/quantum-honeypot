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QUANTUM INFORMATION &amp; ADVANCED CYBER-DECEPTION</a:t>
            </a:r>
          </a:p>
          <a:p>
            <a:pPr>
              <a:spcAft>
                <a:spcPts val="2000"/>
              </a:spcAft>
              <a:defRPr sz="3600" b="1">
                <a:solidFill>
                  <a:srgbClr val="FFFFFF"/>
                </a:solidFill>
              </a:defRPr>
            </a:pPr>
            <a:r>
              <a:t>QuantumGuard: Entanglement Verification &amp;</a:t>
            </a:r>
            <a:br/>
            <a:r>
              <a:t>State-Collapse Honeypot Architecture</a:t>
            </a:r>
          </a:p>
          <a:p>
            <a:pPr>
              <a:spcAft>
                <a:spcPts val="3000"/>
              </a:spcAft>
              <a:defRPr sz="1600">
                <a:solidFill>
                  <a:srgbClr val="94A3B8"/>
                </a:solidFill>
              </a:defRPr>
            </a:pPr>
            <a:r>
              <a:t>Physical-Layer Threat Interception, Decoy QKD Verification, and Real-Time MITRE ATT&amp;CK Telemetry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Presented by: Aman Verma &amp; Research Engineering Group | Project Defense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MOTIVATION &amp; THREAT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Fundamental Asymmetry of Classical Deception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b="1" sz="1400">
                <a:solidFill>
                  <a:srgbClr val="0F172A"/>
                </a:solidFill>
              </a:defRPr>
            </a:pPr>
            <a:r>
              <a:t>•  Passive Classical Honeypots: </a:t>
            </a:r>
          </a:p>
          <a:p>
            <a:pPr>
              <a:spcAft>
                <a:spcPts val="1600"/>
              </a:spcAft>
              <a:defRPr sz="1200">
                <a:solidFill>
                  <a:srgbClr val="475569"/>
                </a:solidFill>
              </a:defRPr>
            </a:pPr>
            <a:r>
              <a:t>   Traditional traps (Cowrie, Dionaea) leave no physical footprint when an attacker inspects files, dumps credentials, or scans ports.</a:t>
            </a:r>
          </a:p>
          <a:p>
            <a:pPr>
              <a:spcAft>
                <a:spcPts val="400"/>
              </a:spcAft>
              <a:defRPr b="1" sz="1400">
                <a:solidFill>
                  <a:srgbClr val="0F172A"/>
                </a:solidFill>
              </a:defRPr>
            </a:pPr>
            <a:r>
              <a:t>•  Zero Probing Overhead for Adversaries: </a:t>
            </a:r>
          </a:p>
          <a:p>
            <a:pPr>
              <a:spcAft>
                <a:spcPts val="1600"/>
              </a:spcAft>
              <a:defRPr sz="1200">
                <a:solidFill>
                  <a:srgbClr val="475569"/>
                </a:solidFill>
              </a:defRPr>
            </a:pPr>
            <a:r>
              <a:t>   Sophisticated APT groups can stealthily read configuration files and test stolen credentials without disturbing the underlying bits.</a:t>
            </a:r>
          </a:p>
          <a:p>
            <a:pPr>
              <a:spcAft>
                <a:spcPts val="400"/>
              </a:spcAft>
              <a:defRPr b="1" sz="1400">
                <a:solidFill>
                  <a:srgbClr val="0F172A"/>
                </a:solidFill>
              </a:defRPr>
            </a:pPr>
            <a:r>
              <a:t>•  Hypervisor &amp; Artifact Fingerprinting: </a:t>
            </a:r>
          </a:p>
          <a:p>
            <a:pPr>
              <a:spcAft>
                <a:spcPts val="1600"/>
              </a:spcAft>
              <a:defRPr sz="1200">
                <a:solidFill>
                  <a:srgbClr val="475569"/>
                </a:solidFill>
              </a:defRPr>
            </a:pPr>
            <a:r>
              <a:t>   Adversaries recognize subtle Linux virtual environment signatures prior to launching their true payload, avoiding detection.</a:t>
            </a:r>
          </a:p>
          <a:p>
            <a:pPr>
              <a:spcAft>
                <a:spcPts val="400"/>
              </a:spcAft>
              <a:defRPr b="1" sz="1400">
                <a:solidFill>
                  <a:srgbClr val="0F172A"/>
                </a:solidFill>
              </a:defRPr>
            </a:pPr>
            <a:r>
              <a:t>•  The Quantum Alternative: </a:t>
            </a:r>
          </a:p>
          <a:p>
            <a:pPr>
              <a:spcAft>
                <a:spcPts val="1600"/>
              </a:spcAft>
              <a:defRPr sz="1200">
                <a:solidFill>
                  <a:srgbClr val="475569"/>
                </a:solidFill>
              </a:defRPr>
            </a:pPr>
            <a:r>
              <a:t>   The Observer Effect and No-Cloning Theorem dictate that measuring unknown quantum states irreversibly alters them, removing adversary stealth.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PLATFORM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QuantumGuard System Architecture &amp; Pipeline</a:t>
            </a:r>
          </a:p>
        </p:txBody>
      </p:sp>
      <p:pic>
        <p:nvPicPr>
          <p:cNvPr id="5" name="Picture 4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32720" cy="58349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CORE QUANTUM 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Entanglement Non-Locality &amp; Bell-CHSH Verification</a:t>
            </a:r>
          </a:p>
        </p:txBody>
      </p:sp>
      <p:pic>
        <p:nvPicPr>
          <p:cNvPr id="5" name="Picture 4" descr="fig_chsh_vio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3627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64592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/>
            </a:pPr>
            <a:r>
              <a:t>Mathematical Formulation: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Bell State: |Φ⁺⟩ = 1/√2 (|00⟩ + |11⟩)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Correlation: E(a, b) = cos(θ_a - θ_b)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Classical Bound: S ≤ 2.0 (Local Realism)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Quantum Bound: S = 2√2 ≈ 2.8284 (Tsirelson)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Tampering Detection: If an eavesdropper intercepts the channel, S collapses to S ≤ √2 ≈ 1.414.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Result: Experimental verification yields S = 2.8194, strictly confirming non-locality and channel integrity.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KEY DISTRIBUTION &amp; DECOY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BB84 Decoy Protocol &amp; Statistical Intrusion Abort</a:t>
            </a:r>
          </a:p>
        </p:txBody>
      </p:sp>
      <p:pic>
        <p:nvPicPr>
          <p:cNvPr id="5" name="Picture 4" descr="fig_bb84_q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3627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64592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/>
            </a:pPr>
            <a:r>
              <a:t>Decoy State Verification: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Basis Options: Rectilinear (+) and Diagonal (×).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Eavesdropping Signature: Full interception yields an asymptotic 25.0% QBER on sifted keys.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Wilson 95% Confidence Intervals: Calculated over finite pulses (N=500) to prevent false-alarm aborts.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Security Policy: Session aborted deterministically if lower Wilson bound Q⁻ &gt; 11.0%.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Telemetry Bridge: Abort triggers high-priority alert with MITRE Tactic 'Defense Evasion' (T1557).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OPEN SYSTEMS &amp; STATE PRESERVATION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Decoherence Trajectories &amp; Universal Cloning Bound</a:t>
            </a:r>
          </a:p>
        </p:txBody>
      </p:sp>
      <p:pic>
        <p:nvPicPr>
          <p:cNvPr id="5" name="Picture 4" descr="fig_fidelity_kra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2987040"/>
          </a:xfrm>
          <a:prstGeom prst="rect">
            <a:avLst/>
          </a:prstGeom>
        </p:spPr>
      </p:pic>
      <p:pic>
        <p:nvPicPr>
          <p:cNvPr id="6" name="Picture 5" descr="fig_cloning_b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120640" cy="2987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EMPIRICAL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Experimental Verification &amp; Intrusion Telemetry</a:t>
            </a:r>
          </a:p>
        </p:txBody>
      </p:sp>
      <p:pic>
        <p:nvPicPr>
          <p:cNvPr id="5" name="Picture 4" descr="fig_mitr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3307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/>
            </a:pPr>
            <a:r>
              <a:t>Operational Telemetry Highlights: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Mean Time to Detect (MTTD): 11.625 ms across all attack scenarios.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Zero False Negatives: Quantum state collapse registered in 100% of eavesdropping tests.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SSH Bastion (Port 2222): Brute force detected in 18.5 ms with credential SHA-256 redaction.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Canary Tripwire: File exfiltration detected in 8.7 ms via OS watcher daemon.</a:t>
            </a:r>
          </a:p>
          <a:p>
            <a:pPr>
              <a:spcAft>
                <a:spcPts val="800"/>
              </a:spcAft>
              <a:defRPr sz="1150">
                <a:solidFill>
                  <a:srgbClr val="475569"/>
                </a:solidFill>
              </a:defRPr>
            </a:pPr>
            <a:r>
              <a:t>• Real-Time Stream: Server-Sent Events (SSE) stream telemetry directly into the Web SOC.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Conclusion, Honest Defense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b="1" sz="1400">
                <a:solidFill>
                  <a:srgbClr val="0F172A"/>
                </a:solidFill>
              </a:defRPr>
            </a:pPr>
            <a:r>
              <a:t>•  Core Contribution: </a:t>
            </a:r>
          </a:p>
          <a:p>
            <a:pPr>
              <a:spcAft>
                <a:spcPts val="1400"/>
              </a:spcAft>
              <a:defRPr sz="1200">
                <a:solidFill>
                  <a:srgbClr val="475569"/>
                </a:solidFill>
              </a:defRPr>
            </a:pPr>
            <a:r>
              <a:t>   Engineered and validated a production-grade cyber-deception platform coupling classical traps with physical quantum informational sentinels.</a:t>
            </a:r>
          </a:p>
          <a:p>
            <a:pPr>
              <a:spcAft>
                <a:spcPts val="400"/>
              </a:spcAft>
              <a:defRPr b="1" sz="1400">
                <a:solidFill>
                  <a:srgbClr val="0F172A"/>
                </a:solidFill>
              </a:defRPr>
            </a:pPr>
            <a:r>
              <a:t>•  Scientific Integrity &amp; Honest Scope: </a:t>
            </a:r>
          </a:p>
          <a:p>
            <a:pPr>
              <a:spcAft>
                <a:spcPts val="1400"/>
              </a:spcAft>
              <a:defRPr sz="1200">
                <a:solidFill>
                  <a:srgbClr val="475569"/>
                </a:solidFill>
              </a:defRPr>
            </a:pPr>
            <a:r>
              <a:t>   The No-Cloning theorem governs physical quantum states; it prevents quantum token replication but classical file dumps must still be trapped by canary tripwires.</a:t>
            </a:r>
          </a:p>
          <a:p>
            <a:pPr>
              <a:spcAft>
                <a:spcPts val="400"/>
              </a:spcAft>
              <a:defRPr b="1" sz="1400">
                <a:solidFill>
                  <a:srgbClr val="0F172A"/>
                </a:solidFill>
              </a:defRPr>
            </a:pPr>
            <a:r>
              <a:t>•  Performance: </a:t>
            </a:r>
          </a:p>
          <a:p>
            <a:pPr>
              <a:spcAft>
                <a:spcPts val="1400"/>
              </a:spcAft>
              <a:defRPr sz="1200">
                <a:solidFill>
                  <a:srgbClr val="475569"/>
                </a:solidFill>
              </a:defRPr>
            </a:pPr>
            <a:r>
              <a:t>   Sub-15ms detection latency, complete Bell-CHSH non-locality verification ($S=2.819$), and deterministic QBER aborts ($Q &gt; 11\%$).</a:t>
            </a:r>
          </a:p>
          <a:p>
            <a:pPr>
              <a:spcAft>
                <a:spcPts val="400"/>
              </a:spcAft>
              <a:defRPr b="1" sz="1400">
                <a:solidFill>
                  <a:srgbClr val="0F172A"/>
                </a:solidFill>
              </a:defRPr>
            </a:pPr>
            <a:r>
              <a:t>•  Future Roadmap: </a:t>
            </a:r>
          </a:p>
          <a:p>
            <a:pPr>
              <a:spcAft>
                <a:spcPts val="1400"/>
              </a:spcAft>
              <a:defRPr sz="1200">
                <a:solidFill>
                  <a:srgbClr val="475569"/>
                </a:solidFill>
              </a:defRPr>
            </a:pPr>
            <a:r>
              <a:t>   Integration with physical photonics hardware testbeds and continuous-variable QKD transceivers; surface code quantum error correction.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Selected References (Strictly 2024--2026 Peer-Reviewed Literature)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[1] Kumar, Sengupta, &amp; Mukherjee (2024). Quantum-Aware Secure Telemetry and Hybrid IDS for Industrial IoT. Scientific Reports (Nature), 14:8912.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[2] Al-Fuqaha, Benzerroug, &amp; Tariq (2024). QML-IDS: Quantum Machine Learning Intrusion Detection in SDNs. IEEE ISCC 2024, pp. 1-7.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[3] Zhang, Zhao, &amp; Liu (2024). Physical-Layer Intrusion Detection in Decoy-State QKD Networks. IEEE TIFS, 19:4210-4224.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[4] Wang, Chen, Davies, &amp; Rossi (2025). Quantum Honeypots: State-Collapse Detection and Quantum Sentinels. J. Cybersecurity &amp; Quantum Info, 7(1):35-52.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[5] National Institute of Standards and Technology (2024). Post-Quantum Cryptography Standards (FIPS 203, 204, 205). U.S. Dept of Commerce.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[6] Chen, Thorne, &amp; Williams (2025). Entanglement-Based Physical Layer Deception: Bell-State Verification. Physical Review Applied, 23:024018.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[7] Li, Reynolds, &amp; Zhou (2025). Universal Quantum Cloning Bounds in Adversarial Decoy-State Interception. IEEE JSAC, 43(3):789-801.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[8] Sharma, Banerjee, &amp; Varma (2024). Noise-Resilient Deception Networks: Kraus Channel Modeling. Quantum Science and Technology, 9:045012.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</a:defRPr>
            </a:pPr>
            <a:r>
              <a:t>[9] Patel, Verma, &amp; Jenkins (2025). Quantum Decoy-State Verification: Wilson Score Confidence Intervals. ACM Trans. Quantum Computing, 6(2):1-21.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