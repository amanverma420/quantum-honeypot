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QuantumGuard is my project that combines a working honeypot and SOC platform with a quantum information lab. I will show what it does, how it is built and what I improved this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Five parts, fifteen slides. The comparison with the earlier version is 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perimeter tools watch the door, but once someone is inside, normal traffic hides them. A decoy has no legitimate users, so any touch is suspicious.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two layers. Layer A is real defensive tooling. Layer B is an educational quantum simulator. They share a dashboard but not logic, and I am upfront that quantum simulation does not protect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event left to right. A trap is touched, the event is validated, secrets are redacted, duplicates are merged, rules decide if it matters, and then it is stored and pushed to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baits. Each one looks valuable but is fake, and touching it creates an event. The three trap files in the traps folder run the HTTP gateway, the SSH bastion and the file watcher.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 goes through four steps in pipeline.py. After detection, related events are correlated into one incident that an analyst can work through four states, with notes kept as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Analysts do not refresh anything. Server-Sent Events push each alert to the page as it happens. The front end is plain JavaScript split into four small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role based. Passwords are hashed with PBKDF2 at 600,000 iterations and sessions use signed JWT tokens. The admin account is bootstrapped from an environment variable on first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third of the quantum lab. The Bloch engine and circuit simulator are the base. The Bell-CHSH test reaches 2.8284, above the classical limit of 2, and the cloning check compares against the 5 over 6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BB84 is the full key distribution lifecycle, with an optional eavesdropper whose presence shows up as a higher error rate. Grover shows the quadratic speedup, and the benchmark keeps query count separate from simulator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of the lab. Noise models show how states degrade, the repetition code shows how to recover, and teleportation ties together Bell pairs, measurement, classical bits and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slide for my progress. The CLI prototype could run honeypot checks and simulations. This semester it became a full platform with a web dashboard, database, detection rules, authentication and a much bigger quantum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with two commands, in Docker with PostgreSQL, or as a live demo on Vercel. The pytest suite covers quantum maths, auth, the event pipeline, demo scenarios and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 working deception platform, a secured API, and an eight-module quantum lab, all with tests. Next steps are alert integrations and more trap types.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493776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4937760" cy="1097280"/>
          </a:xfrm>
          <a:prstGeom prst="rect">
            <a:avLst/>
          </a:prstGeom>
          <a:noFill/>
          <a:ln/>
        </p:spPr>
        <p:txBody>
          <a:bodyPr wrap="square" lIns="0" tIns="0" rIns="0" bIns="0" rtlCol="0" anchor="ctr"/>
          <a:lstStyle/>
          <a:p>
            <a:pPr algn="l" indent="0" marL="0">
              <a:buNone/>
            </a:pPr>
            <a:r>
              <a:rPr lang="en-US" sz="4800" b="1" dirty="0">
                <a:solidFill>
                  <a:schemeClr val="bg1"/>
                </a:solidFill>
              </a:rPr>
              <a:t>QuantumGuard</a:t>
            </a:r>
            <a:endParaRPr lang="en-US" sz="4800" dirty="0"/>
          </a:p>
        </p:txBody>
      </p:sp>
      <p:sp>
        <p:nvSpPr>
          <p:cNvPr id="3" name="Text 1"/>
          <p:cNvSpPr txBox="1"/>
          <p:nvPr/>
        </p:nvSpPr>
        <p:spPr>
          <a:xfrm>
            <a:off x="548640" y="2514600"/>
            <a:ext cx="4754880" cy="822960"/>
          </a:xfrm>
          <a:prstGeom prst="rect">
            <a:avLst/>
          </a:prstGeom>
          <a:noFill/>
          <a:ln/>
        </p:spPr>
        <p:txBody>
          <a:bodyPr wrap="square" lIns="0" tIns="0" rIns="0" bIns="0" rtlCol="0" anchor="t"/>
          <a:lstStyle/>
          <a:p>
            <a:pPr indent="0" marL="0">
              <a:buNone/>
            </a:pPr>
            <a:r>
              <a:rPr lang="en-US" sz="2000" dirty="0">
                <a:solidFill>
                  <a:schemeClr val="bg2"/>
                </a:solidFill>
              </a:rPr>
              <a:t>Deception technology meets a quantum information lab</a:t>
            </a:r>
            <a:endParaRPr lang="en-US" sz="2000" dirty="0"/>
          </a:p>
        </p:txBody>
      </p:sp>
      <p:sp>
        <p:nvSpPr>
          <p:cNvPr id="4" name="Text 2"/>
          <p:cNvSpPr txBox="1"/>
          <p:nvPr/>
        </p:nvSpPr>
        <p:spPr>
          <a:xfrm>
            <a:off x="548640" y="4206240"/>
            <a:ext cx="4754880" cy="274320"/>
          </a:xfrm>
          <a:prstGeom prst="rect">
            <a:avLst/>
          </a:prstGeom>
          <a:noFill/>
          <a:ln/>
        </p:spPr>
        <p:txBody>
          <a:bodyPr wrap="square" lIns="0" tIns="0" rIns="0" bIns="0" rtlCol="0" anchor="t"/>
          <a:lstStyle/>
          <a:p>
            <a:pPr indent="0" marL="0">
              <a:buNone/>
            </a:pPr>
            <a:r>
              <a:rPr lang="en-US" sz="1400" dirty="0">
                <a:solidFill>
                  <a:schemeClr val="bg2"/>
                </a:solidFill>
              </a:rPr>
              <a:t>Project presentation  |  Aman Verma  |  v3.0</a:t>
            </a:r>
            <a:endParaRPr lang="en-US" sz="1400" dirty="0"/>
          </a:p>
        </p:txBody>
      </p:sp>
      <p:sp>
        <p:nvSpPr>
          <p:cNvPr id="5" name="Sphere"/>
          <p:cNvSpPr/>
          <p:nvPr/>
        </p:nvSpPr>
        <p:spPr>
          <a:xfrm>
            <a:off x="5669280" y="1097280"/>
            <a:ext cx="2926080" cy="2926080"/>
          </a:xfrm>
          <a:prstGeom prst="ellipse">
            <a:avLst/>
          </a:prstGeom>
          <a:ln w="25400">
            <a:solidFill>
              <a:schemeClr val="accent1"/>
            </a:solidFill>
            <a:prstDash val="solid"/>
          </a:ln>
        </p:spPr>
      </p:sp>
      <p:sp>
        <p:nvSpPr>
          <p:cNvPr id="6" name="Equator"/>
          <p:cNvSpPr/>
          <p:nvPr/>
        </p:nvSpPr>
        <p:spPr>
          <a:xfrm>
            <a:off x="5669280" y="2286000"/>
            <a:ext cx="2926080" cy="548640"/>
          </a:xfrm>
          <a:prstGeom prst="ellipse">
            <a:avLst/>
          </a:prstGeom>
          <a:ln w="19050">
            <a:solidFill>
              <a:schemeClr val="accent3"/>
            </a:solidFill>
            <a:prstDash val="solid"/>
          </a:ln>
        </p:spPr>
      </p:sp>
      <p:sp>
        <p:nvSpPr>
          <p:cNvPr id="7" name="Meridian"/>
          <p:cNvSpPr/>
          <p:nvPr/>
        </p:nvSpPr>
        <p:spPr>
          <a:xfrm>
            <a:off x="6766560" y="1097280"/>
            <a:ext cx="731520" cy="2926080"/>
          </a:xfrm>
          <a:prstGeom prst="ellipse">
            <a:avLst/>
          </a:prstGeom>
          <a:ln w="12700">
            <a:solidFill>
              <a:schemeClr val="accent6"/>
            </a:solidFill>
            <a:prstDash val="solid"/>
          </a:ln>
        </p:spPr>
      </p:sp>
      <p:sp>
        <p:nvSpPr>
          <p:cNvPr id="8" name="State arrow"/>
          <p:cNvSpPr/>
          <p:nvPr/>
        </p:nvSpPr>
        <p:spPr>
          <a:xfrm>
            <a:off x="7132320" y="2560320"/>
            <a:ext cx="914400" cy="-822960"/>
          </a:xfrm>
          <a:prstGeom prst="line">
            <a:avLst/>
          </a:prstGeom>
          <a:noFill/>
          <a:ln w="25400">
            <a:solidFill>
              <a:schemeClr val="accent2"/>
            </a:solidFill>
            <a:prstDash val="solid"/>
          </a:ln>
        </p:spPr>
      </p:sp>
      <p:sp>
        <p:nvSpPr>
          <p:cNvPr id="9" name="Bloch vector"/>
          <p:cNvSpPr/>
          <p:nvPr/>
        </p:nvSpPr>
        <p:spPr>
          <a:xfrm>
            <a:off x="7955280" y="1600200"/>
            <a:ext cx="256032" cy="256032"/>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What we will walk through</a:t>
            </a:r>
            <a:endParaRPr lang="en-US" sz="3200" dirty="0"/>
          </a:p>
        </p:txBody>
      </p:sp>
      <p:sp>
        <p:nvSpPr>
          <p:cNvPr id="4" name="Text 1"/>
          <p:cNvSpPr txBox="1"/>
          <p:nvPr/>
        </p:nvSpPr>
        <p:spPr>
          <a:xfrm>
            <a:off x="457200" y="1188720"/>
            <a:ext cx="822960" cy="5029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5" name="Text 2"/>
          <p:cNvSpPr txBox="1"/>
          <p:nvPr/>
        </p:nvSpPr>
        <p:spPr>
          <a:xfrm>
            <a:off x="1463040" y="118872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The problem and the idea</a:t>
            </a:r>
            <a:endParaRPr lang="en-US" sz="2000" dirty="0"/>
          </a:p>
        </p:txBody>
      </p:sp>
      <p:sp>
        <p:nvSpPr>
          <p:cNvPr id="6" name="Text 3"/>
          <p:cNvSpPr txBox="1"/>
          <p:nvPr/>
        </p:nvSpPr>
        <p:spPr>
          <a:xfrm>
            <a:off x="6583680" y="1188720"/>
            <a:ext cx="2103120" cy="502920"/>
          </a:xfrm>
          <a:prstGeom prst="rect">
            <a:avLst/>
          </a:prstGeom>
          <a:noFill/>
          <a:ln/>
        </p:spPr>
        <p:txBody>
          <a:bodyPr wrap="square" lIns="0" tIns="0" rIns="0" bIns="0" rtlCol="0" anchor="ctr"/>
          <a:lstStyle/>
          <a:p>
            <a:pPr algn="r" indent="0" marL="0">
              <a:buNone/>
            </a:pPr>
            <a:r>
              <a:rPr lang="en-US" sz="1400" dirty="0">
                <a:solidFill>
                  <a:schemeClr val="accent6"/>
                </a:solidFill>
              </a:rPr>
              <a:t>Slides 3-4</a:t>
            </a:r>
            <a:endParaRPr lang="en-US" sz="1400" dirty="0"/>
          </a:p>
        </p:txBody>
      </p:sp>
      <p:sp>
        <p:nvSpPr>
          <p:cNvPr id="7" name="Text 4"/>
          <p:cNvSpPr txBox="1"/>
          <p:nvPr/>
        </p:nvSpPr>
        <p:spPr>
          <a:xfrm>
            <a:off x="457200" y="1874520"/>
            <a:ext cx="822960" cy="5029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02</a:t>
            </a:r>
            <a:endParaRPr lang="en-US" sz="3000" dirty="0"/>
          </a:p>
        </p:txBody>
      </p:sp>
      <p:sp>
        <p:nvSpPr>
          <p:cNvPr id="8" name="Text 5"/>
          <p:cNvSpPr txBox="1"/>
          <p:nvPr/>
        </p:nvSpPr>
        <p:spPr>
          <a:xfrm>
            <a:off x="1463040" y="187452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Architecture and the deception layer</a:t>
            </a:r>
            <a:endParaRPr lang="en-US" sz="2000" dirty="0"/>
          </a:p>
        </p:txBody>
      </p:sp>
      <p:sp>
        <p:nvSpPr>
          <p:cNvPr id="9" name="Text 6"/>
          <p:cNvSpPr txBox="1"/>
          <p:nvPr/>
        </p:nvSpPr>
        <p:spPr>
          <a:xfrm>
            <a:off x="6583680" y="1874520"/>
            <a:ext cx="2103120" cy="502920"/>
          </a:xfrm>
          <a:prstGeom prst="rect">
            <a:avLst/>
          </a:prstGeom>
          <a:noFill/>
          <a:ln/>
        </p:spPr>
        <p:txBody>
          <a:bodyPr wrap="square" lIns="0" tIns="0" rIns="0" bIns="0" rtlCol="0" anchor="ctr"/>
          <a:lstStyle/>
          <a:p>
            <a:pPr algn="r" indent="0" marL="0">
              <a:buNone/>
            </a:pPr>
            <a:r>
              <a:rPr lang="en-US" sz="1400" dirty="0">
                <a:solidFill>
                  <a:schemeClr val="accent6"/>
                </a:solidFill>
              </a:rPr>
              <a:t>Slides 5-7</a:t>
            </a:r>
            <a:endParaRPr lang="en-US" sz="1400" dirty="0"/>
          </a:p>
        </p:txBody>
      </p:sp>
      <p:sp>
        <p:nvSpPr>
          <p:cNvPr id="10" name="Text 7"/>
          <p:cNvSpPr txBox="1"/>
          <p:nvPr/>
        </p:nvSpPr>
        <p:spPr>
          <a:xfrm>
            <a:off x="457200" y="2560320"/>
            <a:ext cx="822960" cy="5029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03</a:t>
            </a:r>
            <a:endParaRPr lang="en-US" sz="3000" dirty="0"/>
          </a:p>
        </p:txBody>
      </p:sp>
      <p:sp>
        <p:nvSpPr>
          <p:cNvPr id="11" name="Text 8"/>
          <p:cNvSpPr txBox="1"/>
          <p:nvPr/>
        </p:nvSpPr>
        <p:spPr>
          <a:xfrm>
            <a:off x="1463040" y="256032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SOC dashboard and security</a:t>
            </a:r>
            <a:endParaRPr lang="en-US" sz="2000" dirty="0"/>
          </a:p>
        </p:txBody>
      </p:sp>
      <p:sp>
        <p:nvSpPr>
          <p:cNvPr id="12" name="Text 9"/>
          <p:cNvSpPr txBox="1"/>
          <p:nvPr/>
        </p:nvSpPr>
        <p:spPr>
          <a:xfrm>
            <a:off x="6583680" y="2560320"/>
            <a:ext cx="2103120" cy="502920"/>
          </a:xfrm>
          <a:prstGeom prst="rect">
            <a:avLst/>
          </a:prstGeom>
          <a:noFill/>
          <a:ln/>
        </p:spPr>
        <p:txBody>
          <a:bodyPr wrap="square" lIns="0" tIns="0" rIns="0" bIns="0" rtlCol="0" anchor="ctr"/>
          <a:lstStyle/>
          <a:p>
            <a:pPr algn="r" indent="0" marL="0">
              <a:buNone/>
            </a:pPr>
            <a:r>
              <a:rPr lang="en-US" sz="1400" dirty="0">
                <a:solidFill>
                  <a:schemeClr val="accent6"/>
                </a:solidFill>
              </a:rPr>
              <a:t>Slides 8-9</a:t>
            </a:r>
            <a:endParaRPr lang="en-US" sz="1400" dirty="0"/>
          </a:p>
        </p:txBody>
      </p:sp>
      <p:sp>
        <p:nvSpPr>
          <p:cNvPr id="13" name="Text 10"/>
          <p:cNvSpPr txBox="1"/>
          <p:nvPr/>
        </p:nvSpPr>
        <p:spPr>
          <a:xfrm>
            <a:off x="457200" y="3246120"/>
            <a:ext cx="822960" cy="50292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04</a:t>
            </a:r>
            <a:endParaRPr lang="en-US" sz="3000" dirty="0"/>
          </a:p>
        </p:txBody>
      </p:sp>
      <p:sp>
        <p:nvSpPr>
          <p:cNvPr id="14" name="Text 11"/>
          <p:cNvSpPr txBox="1"/>
          <p:nvPr/>
        </p:nvSpPr>
        <p:spPr>
          <a:xfrm>
            <a:off x="1463040" y="324612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The quantum laboratory</a:t>
            </a:r>
            <a:endParaRPr lang="en-US" sz="2000" dirty="0"/>
          </a:p>
        </p:txBody>
      </p:sp>
      <p:sp>
        <p:nvSpPr>
          <p:cNvPr id="15" name="Text 12"/>
          <p:cNvSpPr txBox="1"/>
          <p:nvPr/>
        </p:nvSpPr>
        <p:spPr>
          <a:xfrm>
            <a:off x="6583680" y="3246120"/>
            <a:ext cx="2103120" cy="502920"/>
          </a:xfrm>
          <a:prstGeom prst="rect">
            <a:avLst/>
          </a:prstGeom>
          <a:noFill/>
          <a:ln/>
        </p:spPr>
        <p:txBody>
          <a:bodyPr wrap="square" lIns="0" tIns="0" rIns="0" bIns="0" rtlCol="0" anchor="ctr"/>
          <a:lstStyle/>
          <a:p>
            <a:pPr algn="r" indent="0" marL="0">
              <a:buNone/>
            </a:pPr>
            <a:r>
              <a:rPr lang="en-US" sz="1400" dirty="0">
                <a:solidFill>
                  <a:schemeClr val="accent6"/>
                </a:solidFill>
              </a:rPr>
              <a:t>Slides 10-12</a:t>
            </a:r>
            <a:endParaRPr lang="en-US" sz="1400" dirty="0"/>
          </a:p>
        </p:txBody>
      </p:sp>
      <p:sp>
        <p:nvSpPr>
          <p:cNvPr id="16" name="Text 13"/>
          <p:cNvSpPr txBox="1"/>
          <p:nvPr/>
        </p:nvSpPr>
        <p:spPr>
          <a:xfrm>
            <a:off x="457200" y="3931920"/>
            <a:ext cx="822960" cy="50292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05</a:t>
            </a:r>
            <a:endParaRPr lang="en-US" sz="3000" dirty="0"/>
          </a:p>
        </p:txBody>
      </p:sp>
      <p:sp>
        <p:nvSpPr>
          <p:cNvPr id="17" name="Text 14"/>
          <p:cNvSpPr txBox="1"/>
          <p:nvPr/>
        </p:nvSpPr>
        <p:spPr>
          <a:xfrm>
            <a:off x="1463040" y="393192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What changed, running it, wrap-up</a:t>
            </a:r>
            <a:endParaRPr lang="en-US" sz="2000" dirty="0"/>
          </a:p>
        </p:txBody>
      </p:sp>
      <p:sp>
        <p:nvSpPr>
          <p:cNvPr id="18" name="Text 15"/>
          <p:cNvSpPr txBox="1"/>
          <p:nvPr/>
        </p:nvSpPr>
        <p:spPr>
          <a:xfrm>
            <a:off x="6583680" y="3931920"/>
            <a:ext cx="2103120" cy="502920"/>
          </a:xfrm>
          <a:prstGeom prst="rect">
            <a:avLst/>
          </a:prstGeom>
          <a:noFill/>
          <a:ln/>
        </p:spPr>
        <p:txBody>
          <a:bodyPr wrap="square" lIns="0" tIns="0" rIns="0" bIns="0" rtlCol="0" anchor="ctr"/>
          <a:lstStyle/>
          <a:p>
            <a:pPr algn="r" indent="0" marL="0">
              <a:buNone/>
            </a:pPr>
            <a:r>
              <a:rPr lang="en-US" sz="1400" dirty="0">
                <a:solidFill>
                  <a:schemeClr val="accent6"/>
                </a:solidFill>
              </a:rPr>
              <a:t>Slides 13-15</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Intruders rarely announce themselves</a:t>
            </a:r>
            <a:endParaRPr lang="en-US" sz="3200" dirty="0"/>
          </a:p>
        </p:txBody>
      </p:sp>
      <p:sp>
        <p:nvSpPr>
          <p:cNvPr id="4" name="Statement card"/>
          <p:cNvSpPr/>
          <p:nvPr/>
        </p:nvSpPr>
        <p:spPr>
          <a:xfrm>
            <a:off x="457200" y="1188720"/>
            <a:ext cx="3200400" cy="3291840"/>
          </a:xfrm>
          <a:prstGeom prst="roundRect">
            <a:avLst>
              <a:gd name="adj" fmla="val 2857"/>
            </a:avLst>
          </a:prstGeom>
          <a:solidFill>
            <a:schemeClr val="tx2"/>
          </a:solidFill>
          <a:ln w="12700">
            <a:solidFill>
              <a:schemeClr val="tx2"/>
            </a:solidFill>
            <a:prstDash val="solid"/>
          </a:ln>
        </p:spPr>
      </p:sp>
      <p:sp>
        <p:nvSpPr>
          <p:cNvPr id="5" name="Text 2"/>
          <p:cNvSpPr txBox="1"/>
          <p:nvPr/>
        </p:nvSpPr>
        <p:spPr>
          <a:xfrm>
            <a:off x="731520" y="1463040"/>
            <a:ext cx="2651760" cy="2743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Perimeter tools watch the door. Once someone is inside, a decoy is the cheapest tripwire.</a:t>
            </a:r>
            <a:endParaRPr lang="en-US" sz="2200" dirty="0"/>
          </a:p>
        </p:txBody>
      </p:sp>
      <p:sp>
        <p:nvSpPr>
          <p:cNvPr id="6" name="Badge 1"/>
          <p:cNvSpPr/>
          <p:nvPr/>
        </p:nvSpPr>
        <p:spPr>
          <a:xfrm>
            <a:off x="4023360" y="1188720"/>
            <a:ext cx="457200" cy="457200"/>
          </a:xfrm>
          <a:prstGeom prst="ellipse">
            <a:avLst/>
          </a:prstGeom>
          <a:solidFill>
            <a:schemeClr val="accent1"/>
          </a:solidFill>
          <a:ln/>
        </p:spPr>
      </p:sp>
      <p:sp>
        <p:nvSpPr>
          <p:cNvPr id="7" name="Text 4"/>
          <p:cNvSpPr txBox="1"/>
          <p:nvPr/>
        </p:nvSpPr>
        <p:spPr>
          <a:xfrm>
            <a:off x="402336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4663440" y="1188720"/>
            <a:ext cx="4023360" cy="274320"/>
          </a:xfrm>
          <a:prstGeom prst="rect">
            <a:avLst/>
          </a:prstGeom>
          <a:noFill/>
          <a:ln/>
        </p:spPr>
        <p:txBody>
          <a:bodyPr wrap="square" lIns="0" tIns="0" rIns="0" bIns="0" rtlCol="0" anchor="t"/>
          <a:lstStyle/>
          <a:p>
            <a:pPr indent="0" marL="0">
              <a:buNone/>
            </a:pPr>
            <a:r>
              <a:rPr lang="en-US" sz="1600" b="1" dirty="0">
                <a:solidFill>
                  <a:schemeClr val="tx1"/>
                </a:solidFill>
              </a:rPr>
              <a:t>Real systems are noisy</a:t>
            </a:r>
            <a:endParaRPr lang="en-US" sz="1600" dirty="0"/>
          </a:p>
        </p:txBody>
      </p:sp>
      <p:sp>
        <p:nvSpPr>
          <p:cNvPr id="9" name="Text 6"/>
          <p:cNvSpPr txBox="1"/>
          <p:nvPr/>
        </p:nvSpPr>
        <p:spPr>
          <a:xfrm>
            <a:off x="4663440" y="1490472"/>
            <a:ext cx="4023360" cy="457200"/>
          </a:xfrm>
          <a:prstGeom prst="rect">
            <a:avLst/>
          </a:prstGeom>
          <a:noFill/>
          <a:ln/>
        </p:spPr>
        <p:txBody>
          <a:bodyPr wrap="square" lIns="0" tIns="0" rIns="0" bIns="0" rtlCol="0" anchor="t"/>
          <a:lstStyle/>
          <a:p>
            <a:pPr indent="0" marL="0">
              <a:buNone/>
            </a:pPr>
            <a:r>
              <a:rPr lang="en-US" sz="1400" dirty="0">
                <a:solidFill>
                  <a:schemeClr val="accent6"/>
                </a:solidFill>
              </a:rPr>
              <a:t>Normal traffic buries the one odd request.</a:t>
            </a:r>
            <a:endParaRPr lang="en-US" sz="1400" dirty="0"/>
          </a:p>
        </p:txBody>
      </p:sp>
      <p:sp>
        <p:nvSpPr>
          <p:cNvPr id="10" name="Badge 2"/>
          <p:cNvSpPr/>
          <p:nvPr/>
        </p:nvSpPr>
        <p:spPr>
          <a:xfrm>
            <a:off x="4023360" y="2331720"/>
            <a:ext cx="457200" cy="457200"/>
          </a:xfrm>
          <a:prstGeom prst="ellipse">
            <a:avLst/>
          </a:prstGeom>
          <a:solidFill>
            <a:schemeClr val="accent3"/>
          </a:solidFill>
          <a:ln/>
        </p:spPr>
      </p:sp>
      <p:sp>
        <p:nvSpPr>
          <p:cNvPr id="11" name="Text 8"/>
          <p:cNvSpPr txBox="1"/>
          <p:nvPr/>
        </p:nvSpPr>
        <p:spPr>
          <a:xfrm>
            <a:off x="4023360" y="2331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663440" y="2331720"/>
            <a:ext cx="4023360" cy="274320"/>
          </a:xfrm>
          <a:prstGeom prst="rect">
            <a:avLst/>
          </a:prstGeom>
          <a:noFill/>
          <a:ln/>
        </p:spPr>
        <p:txBody>
          <a:bodyPr wrap="square" lIns="0" tIns="0" rIns="0" bIns="0" rtlCol="0" anchor="t"/>
          <a:lstStyle/>
          <a:p>
            <a:pPr indent="0" marL="0">
              <a:buNone/>
            </a:pPr>
            <a:r>
              <a:rPr lang="en-US" sz="1600" b="1" dirty="0">
                <a:solidFill>
                  <a:schemeClr val="tx1"/>
                </a:solidFill>
              </a:rPr>
              <a:t>Decoys have no real users</a:t>
            </a:r>
            <a:endParaRPr lang="en-US" sz="1600" dirty="0"/>
          </a:p>
        </p:txBody>
      </p:sp>
      <p:sp>
        <p:nvSpPr>
          <p:cNvPr id="13" name="Text 10"/>
          <p:cNvSpPr txBox="1"/>
          <p:nvPr/>
        </p:nvSpPr>
        <p:spPr>
          <a:xfrm>
            <a:off x="4663440" y="2633472"/>
            <a:ext cx="4023360" cy="457200"/>
          </a:xfrm>
          <a:prstGeom prst="rect">
            <a:avLst/>
          </a:prstGeom>
          <a:noFill/>
          <a:ln/>
        </p:spPr>
        <p:txBody>
          <a:bodyPr wrap="square" lIns="0" tIns="0" rIns="0" bIns="0" rtlCol="0" anchor="t"/>
          <a:lstStyle/>
          <a:p>
            <a:pPr indent="0" marL="0">
              <a:buNone/>
            </a:pPr>
            <a:r>
              <a:rPr lang="en-US" sz="1400" dirty="0">
                <a:solidFill>
                  <a:schemeClr val="accent6"/>
                </a:solidFill>
              </a:rPr>
              <a:t>Any touch of a fake key, port or file is suspect by design.</a:t>
            </a:r>
            <a:endParaRPr lang="en-US" sz="1400" dirty="0"/>
          </a:p>
        </p:txBody>
      </p:sp>
      <p:sp>
        <p:nvSpPr>
          <p:cNvPr id="14" name="Badge 3"/>
          <p:cNvSpPr/>
          <p:nvPr/>
        </p:nvSpPr>
        <p:spPr>
          <a:xfrm>
            <a:off x="4023360" y="3474720"/>
            <a:ext cx="457200" cy="457200"/>
          </a:xfrm>
          <a:prstGeom prst="ellipse">
            <a:avLst/>
          </a:prstGeom>
          <a:solidFill>
            <a:schemeClr val="accent2"/>
          </a:solidFill>
          <a:ln/>
        </p:spPr>
      </p:sp>
      <p:sp>
        <p:nvSpPr>
          <p:cNvPr id="15" name="Text 12"/>
          <p:cNvSpPr txBox="1"/>
          <p:nvPr/>
        </p:nvSpPr>
        <p:spPr>
          <a:xfrm>
            <a:off x="402336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4663440" y="3474720"/>
            <a:ext cx="4023360" cy="274320"/>
          </a:xfrm>
          <a:prstGeom prst="rect">
            <a:avLst/>
          </a:prstGeom>
          <a:noFill/>
          <a:ln/>
        </p:spPr>
        <p:txBody>
          <a:bodyPr wrap="square" lIns="0" tIns="0" rIns="0" bIns="0" rtlCol="0" anchor="t"/>
          <a:lstStyle/>
          <a:p>
            <a:pPr indent="0" marL="0">
              <a:buNone/>
            </a:pPr>
            <a:r>
              <a:rPr lang="en-US" sz="1600" b="1" dirty="0">
                <a:solidFill>
                  <a:schemeClr val="tx1"/>
                </a:solidFill>
              </a:rPr>
              <a:t>Context speeds up triage</a:t>
            </a:r>
            <a:endParaRPr lang="en-US" sz="1600" dirty="0"/>
          </a:p>
        </p:txBody>
      </p:sp>
      <p:sp>
        <p:nvSpPr>
          <p:cNvPr id="17" name="Text 14"/>
          <p:cNvSpPr txBox="1"/>
          <p:nvPr/>
        </p:nvSpPr>
        <p:spPr>
          <a:xfrm>
            <a:off x="4663440" y="3776472"/>
            <a:ext cx="4023360" cy="457200"/>
          </a:xfrm>
          <a:prstGeom prst="rect">
            <a:avLst/>
          </a:prstGeom>
          <a:noFill/>
          <a:ln/>
        </p:spPr>
        <p:txBody>
          <a:bodyPr wrap="square" lIns="0" tIns="0" rIns="0" bIns="0" rtlCol="0" anchor="t"/>
          <a:lstStyle/>
          <a:p>
            <a:pPr indent="0" marL="0">
              <a:buNone/>
            </a:pPr>
            <a:r>
              <a:rPr lang="en-US" sz="1400" dirty="0">
                <a:solidFill>
                  <a:schemeClr val="accent6"/>
                </a:solidFill>
              </a:rPr>
              <a:t>Events map to MITRE ATT&amp;CK and group into incidents.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Two layers, kept strictly apart</a:t>
            </a:r>
            <a:endParaRPr lang="en-US" sz="3200" dirty="0"/>
          </a:p>
        </p:txBody>
      </p:sp>
      <p:sp>
        <p:nvSpPr>
          <p:cNvPr id="4" name="Layer A"/>
          <p:cNvSpPr/>
          <p:nvPr/>
        </p:nvSpPr>
        <p:spPr>
          <a:xfrm>
            <a:off x="457200" y="1188720"/>
            <a:ext cx="3886200" cy="2697480"/>
          </a:xfrm>
          <a:prstGeom prst="roundRect">
            <a:avLst>
              <a:gd name="adj" fmla="val 3390"/>
            </a:avLst>
          </a:prstGeom>
          <a:solidFill>
            <a:schemeClr val="bg1"/>
          </a:solidFill>
          <a:ln w="12700">
            <a:solidFill>
              <a:schemeClr val="bg2"/>
            </a:solidFill>
            <a:prstDash val="solid"/>
          </a:ln>
        </p:spPr>
      </p:sp>
      <p:sp>
        <p:nvSpPr>
          <p:cNvPr id="5" name="Badge A"/>
          <p:cNvSpPr/>
          <p:nvPr/>
        </p:nvSpPr>
        <p:spPr>
          <a:xfrm>
            <a:off x="731520" y="1417320"/>
            <a:ext cx="502920" cy="502920"/>
          </a:xfrm>
          <a:prstGeom prst="ellipse">
            <a:avLst/>
          </a:prstGeom>
          <a:solidFill>
            <a:schemeClr val="accent1"/>
          </a:solidFill>
          <a:ln/>
        </p:spPr>
      </p:sp>
      <p:sp>
        <p:nvSpPr>
          <p:cNvPr id="6" name="Text 3"/>
          <p:cNvSpPr txBox="1"/>
          <p:nvPr/>
        </p:nvSpPr>
        <p:spPr>
          <a:xfrm>
            <a:off x="731520" y="1417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Text 4"/>
          <p:cNvSpPr txBox="1"/>
          <p:nvPr/>
        </p:nvSpPr>
        <p:spPr>
          <a:xfrm>
            <a:off x="1417320" y="1417320"/>
            <a:ext cx="2743200" cy="502920"/>
          </a:xfrm>
          <a:prstGeom prst="rect">
            <a:avLst/>
          </a:prstGeom>
          <a:noFill/>
          <a:ln/>
        </p:spPr>
        <p:txBody>
          <a:bodyPr wrap="square" lIns="0" tIns="0" rIns="0" bIns="0" rtlCol="0" anchor="ctr"/>
          <a:lstStyle/>
          <a:p>
            <a:pPr indent="0" marL="0">
              <a:buNone/>
            </a:pPr>
            <a:r>
              <a:rPr lang="en-US" sz="1900" b="1" dirty="0">
                <a:solidFill>
                  <a:schemeClr val="tx1"/>
                </a:solidFill>
              </a:rPr>
              <a:t>Deception and detection</a:t>
            </a:r>
            <a:endParaRPr lang="en-US" sz="1900" dirty="0"/>
          </a:p>
        </p:txBody>
      </p:sp>
      <p:sp>
        <p:nvSpPr>
          <p:cNvPr id="8" name="Text 5"/>
          <p:cNvSpPr txBox="1"/>
          <p:nvPr/>
        </p:nvSpPr>
        <p:spPr>
          <a:xfrm>
            <a:off x="731520" y="2148840"/>
            <a:ext cx="338328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Decoy HTTP, SSH and canary files</a:t>
            </a:r>
            <a:endParaRPr lang="en-US" sz="1400" dirty="0"/>
          </a:p>
          <a:p>
            <a:pPr marL="342900" indent="-342900">
              <a:spcAft>
                <a:spcPts val="600"/>
              </a:spcAft>
              <a:buSzPct val="100000"/>
              <a:buChar char="•"/>
            </a:pPr>
            <a:r>
              <a:rPr lang="en-US" sz="1400" dirty="0">
                <a:solidFill>
                  <a:schemeClr val="tx1"/>
                </a:solidFill>
              </a:rPr>
              <a:t>Redaction and MITRE ATT&amp;CK rules</a:t>
            </a:r>
            <a:endParaRPr lang="en-US" sz="1400" dirty="0"/>
          </a:p>
          <a:p>
            <a:pPr marL="342900" indent="-342900">
              <a:spcAft>
                <a:spcPts val="600"/>
              </a:spcAft>
              <a:buSzPct val="100000"/>
              <a:buChar char="•"/>
            </a:pPr>
            <a:r>
              <a:rPr lang="en-US" sz="1400" dirty="0">
                <a:solidFill>
                  <a:schemeClr val="tx1"/>
                </a:solidFill>
              </a:rPr>
              <a:t>Incident correlation and audit trail</a:t>
            </a:r>
            <a:endParaRPr lang="en-US" sz="1400" dirty="0"/>
          </a:p>
          <a:p>
            <a:pPr marL="342900" indent="-342900">
              <a:spcAft>
                <a:spcPts val="600"/>
              </a:spcAft>
              <a:buSzPct val="100000"/>
              <a:buChar char="•"/>
            </a:pPr>
            <a:r>
              <a:rPr lang="en-US" sz="1400" dirty="0">
                <a:solidFill>
                  <a:schemeClr val="tx1"/>
                </a:solidFill>
              </a:rPr>
              <a:t>Live SOC dashboard over SSE</a:t>
            </a:r>
            <a:endParaRPr lang="en-US" sz="1400" dirty="0"/>
          </a:p>
        </p:txBody>
      </p:sp>
      <p:sp>
        <p:nvSpPr>
          <p:cNvPr id="9" name="Layer B"/>
          <p:cNvSpPr/>
          <p:nvPr/>
        </p:nvSpPr>
        <p:spPr>
          <a:xfrm>
            <a:off x="4800600" y="1188720"/>
            <a:ext cx="3886200" cy="2697480"/>
          </a:xfrm>
          <a:prstGeom prst="roundRect">
            <a:avLst>
              <a:gd name="adj" fmla="val 3390"/>
            </a:avLst>
          </a:prstGeom>
          <a:solidFill>
            <a:schemeClr val="bg1"/>
          </a:solidFill>
          <a:ln w="12700">
            <a:solidFill>
              <a:schemeClr val="bg2"/>
            </a:solidFill>
            <a:prstDash val="solid"/>
          </a:ln>
        </p:spPr>
      </p:sp>
      <p:sp>
        <p:nvSpPr>
          <p:cNvPr id="10" name="Badge B"/>
          <p:cNvSpPr/>
          <p:nvPr/>
        </p:nvSpPr>
        <p:spPr>
          <a:xfrm>
            <a:off x="5074920" y="1417320"/>
            <a:ext cx="502920" cy="502920"/>
          </a:xfrm>
          <a:prstGeom prst="ellipse">
            <a:avLst/>
          </a:prstGeom>
          <a:solidFill>
            <a:schemeClr val="accent3"/>
          </a:solidFill>
          <a:ln/>
        </p:spPr>
      </p:sp>
      <p:sp>
        <p:nvSpPr>
          <p:cNvPr id="11" name="Text 8"/>
          <p:cNvSpPr txBox="1"/>
          <p:nvPr/>
        </p:nvSpPr>
        <p:spPr>
          <a:xfrm>
            <a:off x="5074920" y="1417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2" name="Text 9"/>
          <p:cNvSpPr txBox="1"/>
          <p:nvPr/>
        </p:nvSpPr>
        <p:spPr>
          <a:xfrm>
            <a:off x="5760720" y="1417320"/>
            <a:ext cx="2743200" cy="502920"/>
          </a:xfrm>
          <a:prstGeom prst="rect">
            <a:avLst/>
          </a:prstGeom>
          <a:noFill/>
          <a:ln/>
        </p:spPr>
        <p:txBody>
          <a:bodyPr wrap="square" lIns="0" tIns="0" rIns="0" bIns="0" rtlCol="0" anchor="ctr"/>
          <a:lstStyle/>
          <a:p>
            <a:pPr indent="0" marL="0">
              <a:buNone/>
            </a:pPr>
            <a:r>
              <a:rPr lang="en-US" sz="1900" b="1" dirty="0">
                <a:solidFill>
                  <a:schemeClr val="tx1"/>
                </a:solidFill>
              </a:rPr>
              <a:t>Quantum research lab</a:t>
            </a:r>
            <a:endParaRPr lang="en-US" sz="1900" dirty="0"/>
          </a:p>
        </p:txBody>
      </p:sp>
      <p:sp>
        <p:nvSpPr>
          <p:cNvPr id="13" name="Text 10"/>
          <p:cNvSpPr txBox="1"/>
          <p:nvPr/>
        </p:nvSpPr>
        <p:spPr>
          <a:xfrm>
            <a:off x="5074920" y="2148840"/>
            <a:ext cx="338328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Bloch sphere, circuits, Bell-CHSH</a:t>
            </a:r>
            <a:endParaRPr lang="en-US" sz="1400" dirty="0"/>
          </a:p>
          <a:p>
            <a:pPr marL="342900" indent="-342900">
              <a:spcAft>
                <a:spcPts val="600"/>
              </a:spcAft>
              <a:buSzPct val="100000"/>
              <a:buChar char="•"/>
            </a:pPr>
            <a:r>
              <a:rPr lang="en-US" sz="1400" dirty="0">
                <a:solidFill>
                  <a:schemeClr val="tx1"/>
                </a:solidFill>
              </a:rPr>
              <a:t>BB84 key distribution and Grover</a:t>
            </a:r>
            <a:endParaRPr lang="en-US" sz="1400" dirty="0"/>
          </a:p>
          <a:p>
            <a:pPr marL="342900" indent="-342900">
              <a:spcAft>
                <a:spcPts val="600"/>
              </a:spcAft>
              <a:buSzPct val="100000"/>
              <a:buChar char="•"/>
            </a:pPr>
            <a:r>
              <a:rPr lang="en-US" sz="1400" dirty="0">
                <a:solidFill>
                  <a:schemeClr val="tx1"/>
                </a:solidFill>
              </a:rPr>
              <a:t>Noise, repetition code, teleportation</a:t>
            </a:r>
            <a:endParaRPr lang="en-US" sz="1400" dirty="0"/>
          </a:p>
          <a:p>
            <a:pPr marL="342900" indent="-342900">
              <a:spcAft>
                <a:spcPts val="600"/>
              </a:spcAft>
              <a:buSzPct val="100000"/>
              <a:buChar char="•"/>
            </a:pPr>
            <a:r>
              <a:rPr lang="en-US" sz="1400" dirty="0">
                <a:solidFill>
                  <a:schemeClr val="tx1"/>
                </a:solidFill>
              </a:rPr>
              <a:t>Seeded, reproducible benchmarks</a:t>
            </a:r>
            <a:endParaRPr lang="en-US" sz="1400" dirty="0"/>
          </a:p>
        </p:txBody>
      </p:sp>
      <p:sp>
        <p:nvSpPr>
          <p:cNvPr id="14" name="Integrity note"/>
          <p:cNvSpPr/>
          <p:nvPr/>
        </p:nvSpPr>
        <p:spPr>
          <a:xfrm>
            <a:off x="457200" y="4023360"/>
            <a:ext cx="8229600" cy="640080"/>
          </a:xfrm>
          <a:prstGeom prst="roundRect">
            <a:avLst>
              <a:gd name="adj" fmla="val 14286"/>
            </a:avLst>
          </a:prstGeom>
          <a:solidFill>
            <a:schemeClr val="tx2"/>
          </a:solidFill>
          <a:ln w="12700">
            <a:solidFill>
              <a:schemeClr val="tx2"/>
            </a:solidFill>
            <a:prstDash val="solid"/>
          </a:ln>
        </p:spPr>
      </p:sp>
      <p:sp>
        <p:nvSpPr>
          <p:cNvPr id="15" name="Text 12"/>
          <p:cNvSpPr txBox="1"/>
          <p:nvPr/>
        </p:nvSpPr>
        <p:spPr>
          <a:xfrm>
            <a:off x="731520" y="4023360"/>
            <a:ext cx="7680960" cy="640080"/>
          </a:xfrm>
          <a:prstGeom prst="rect">
            <a:avLst/>
          </a:prstGeom>
          <a:noFill/>
          <a:ln/>
        </p:spPr>
        <p:txBody>
          <a:bodyPr wrap="square" lIns="0" tIns="0" rIns="0" bIns="0" rtlCol="0" anchor="ctr"/>
          <a:lstStyle/>
          <a:p>
            <a:pPr indent="0" marL="0">
              <a:buNone/>
            </a:pPr>
            <a:r>
              <a:rPr lang="en-US" sz="1400" dirty="0">
                <a:solidFill>
                  <a:schemeClr val="bg1"/>
                </a:solidFill>
              </a:rPr>
              <a:t>Decoys detect real unauthorized access. The quantum lab models physics in software and does not protect files or passwords.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From a trap hit to a live alert</a:t>
            </a:r>
            <a:endParaRPr lang="en-US" sz="3200" dirty="0"/>
          </a:p>
        </p:txBody>
      </p:sp>
      <p:sp>
        <p:nvSpPr>
          <p:cNvPr id="4" name="Stage Traps"/>
          <p:cNvSpPr/>
          <p:nvPr/>
        </p:nvSpPr>
        <p:spPr>
          <a:xfrm>
            <a:off x="457200" y="1188720"/>
            <a:ext cx="1188720" cy="1600200"/>
          </a:xfrm>
          <a:prstGeom prst="roundRect">
            <a:avLst>
              <a:gd name="adj" fmla="val 7692"/>
            </a:avLst>
          </a:prstGeom>
          <a:solidFill>
            <a:schemeClr val="bg1"/>
          </a:solidFill>
          <a:ln w="12700">
            <a:solidFill>
              <a:schemeClr val="bg2"/>
            </a:solidFill>
            <a:prstDash val="solid"/>
          </a:ln>
        </p:spPr>
      </p:sp>
      <p:sp>
        <p:nvSpPr>
          <p:cNvPr id="5" name="Text 2"/>
          <p:cNvSpPr txBox="1"/>
          <p:nvPr/>
        </p:nvSpPr>
        <p:spPr>
          <a:xfrm>
            <a:off x="548640"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2"/>
                </a:solidFill>
              </a:rPr>
              <a:t>Traps</a:t>
            </a:r>
            <a:endParaRPr lang="en-US" sz="1500" dirty="0"/>
          </a:p>
          <a:p>
            <a:pPr indent="0" marL="0">
              <a:buNone/>
            </a:pPr>
            <a:r>
              <a:rPr lang="en-US" sz="1200" dirty="0">
                <a:solidFill>
                  <a:schemeClr val="accent6"/>
                </a:solidFill>
              </a:rPr>
              <a:t>HTTP :8080, SSH :2222, canary files</a:t>
            </a:r>
            <a:endParaRPr lang="en-US" sz="1500" dirty="0"/>
          </a:p>
        </p:txBody>
      </p:sp>
      <p:sp>
        <p:nvSpPr>
          <p:cNvPr id="6" name="Arrow 0"/>
          <p:cNvSpPr/>
          <p:nvPr/>
        </p:nvSpPr>
        <p:spPr>
          <a:xfrm>
            <a:off x="1645920" y="1874520"/>
            <a:ext cx="219456" cy="219456"/>
          </a:xfrm>
          <a:prstGeom prst="rightArrow">
            <a:avLst/>
          </a:prstGeom>
          <a:solidFill>
            <a:schemeClr val="accent6"/>
          </a:solidFill>
          <a:ln/>
        </p:spPr>
      </p:sp>
      <p:sp>
        <p:nvSpPr>
          <p:cNvPr id="7" name="Stage Validate"/>
          <p:cNvSpPr/>
          <p:nvPr/>
        </p:nvSpPr>
        <p:spPr>
          <a:xfrm>
            <a:off x="1865376" y="1188720"/>
            <a:ext cx="1188720" cy="1600200"/>
          </a:xfrm>
          <a:prstGeom prst="roundRect">
            <a:avLst>
              <a:gd name="adj" fmla="val 7692"/>
            </a:avLst>
          </a:prstGeom>
          <a:solidFill>
            <a:schemeClr val="bg1"/>
          </a:solidFill>
          <a:ln w="12700">
            <a:solidFill>
              <a:schemeClr val="bg2"/>
            </a:solidFill>
            <a:prstDash val="solid"/>
          </a:ln>
        </p:spPr>
      </p:sp>
      <p:sp>
        <p:nvSpPr>
          <p:cNvPr id="8" name="Text 5"/>
          <p:cNvSpPr txBox="1"/>
          <p:nvPr/>
        </p:nvSpPr>
        <p:spPr>
          <a:xfrm>
            <a:off x="1956816"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Validate</a:t>
            </a:r>
            <a:endParaRPr lang="en-US" sz="1500" dirty="0"/>
          </a:p>
          <a:p>
            <a:pPr indent="0" marL="0">
              <a:buNone/>
            </a:pPr>
            <a:r>
              <a:rPr lang="en-US" sz="1200" dirty="0">
                <a:solidFill>
                  <a:schemeClr val="accent6"/>
                </a:solidFill>
              </a:rPr>
              <a:t>Pydantic schema check</a:t>
            </a:r>
            <a:endParaRPr lang="en-US" sz="1500" dirty="0"/>
          </a:p>
        </p:txBody>
      </p:sp>
      <p:sp>
        <p:nvSpPr>
          <p:cNvPr id="9" name="Arrow 1"/>
          <p:cNvSpPr/>
          <p:nvPr/>
        </p:nvSpPr>
        <p:spPr>
          <a:xfrm>
            <a:off x="3054096" y="1874520"/>
            <a:ext cx="219456" cy="219456"/>
          </a:xfrm>
          <a:prstGeom prst="rightArrow">
            <a:avLst/>
          </a:prstGeom>
          <a:solidFill>
            <a:schemeClr val="accent6"/>
          </a:solidFill>
          <a:ln/>
        </p:spPr>
      </p:sp>
      <p:sp>
        <p:nvSpPr>
          <p:cNvPr id="10" name="Stage Redact"/>
          <p:cNvSpPr/>
          <p:nvPr/>
        </p:nvSpPr>
        <p:spPr>
          <a:xfrm>
            <a:off x="3273552" y="1188720"/>
            <a:ext cx="1188720" cy="1600200"/>
          </a:xfrm>
          <a:prstGeom prst="roundRect">
            <a:avLst>
              <a:gd name="adj" fmla="val 7692"/>
            </a:avLst>
          </a:prstGeom>
          <a:solidFill>
            <a:schemeClr val="bg1"/>
          </a:solidFill>
          <a:ln w="12700">
            <a:solidFill>
              <a:schemeClr val="bg2"/>
            </a:solidFill>
            <a:prstDash val="solid"/>
          </a:ln>
        </p:spPr>
      </p:sp>
      <p:sp>
        <p:nvSpPr>
          <p:cNvPr id="11" name="Text 8"/>
          <p:cNvSpPr txBox="1"/>
          <p:nvPr/>
        </p:nvSpPr>
        <p:spPr>
          <a:xfrm>
            <a:off x="3364992"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Redact</a:t>
            </a:r>
            <a:endParaRPr lang="en-US" sz="1500" dirty="0"/>
          </a:p>
          <a:p>
            <a:pPr indent="0" marL="0">
              <a:buNone/>
            </a:pPr>
            <a:r>
              <a:rPr lang="en-US" sz="1200" dirty="0">
                <a:solidFill>
                  <a:schemeClr val="accent6"/>
                </a:solidFill>
              </a:rPr>
              <a:t>Passwords and cookies scrubbed</a:t>
            </a:r>
            <a:endParaRPr lang="en-US" sz="1500" dirty="0"/>
          </a:p>
        </p:txBody>
      </p:sp>
      <p:sp>
        <p:nvSpPr>
          <p:cNvPr id="12" name="Arrow 2"/>
          <p:cNvSpPr/>
          <p:nvPr/>
        </p:nvSpPr>
        <p:spPr>
          <a:xfrm>
            <a:off x="4462272" y="1874520"/>
            <a:ext cx="219456" cy="219456"/>
          </a:xfrm>
          <a:prstGeom prst="rightArrow">
            <a:avLst/>
          </a:prstGeom>
          <a:solidFill>
            <a:schemeClr val="accent6"/>
          </a:solidFill>
          <a:ln/>
        </p:spPr>
      </p:sp>
      <p:sp>
        <p:nvSpPr>
          <p:cNvPr id="13" name="Stage Dedupe"/>
          <p:cNvSpPr/>
          <p:nvPr/>
        </p:nvSpPr>
        <p:spPr>
          <a:xfrm>
            <a:off x="4681728" y="1188720"/>
            <a:ext cx="1188720" cy="1600200"/>
          </a:xfrm>
          <a:prstGeom prst="roundRect">
            <a:avLst>
              <a:gd name="adj" fmla="val 7692"/>
            </a:avLst>
          </a:prstGeom>
          <a:solidFill>
            <a:schemeClr val="bg1"/>
          </a:solidFill>
          <a:ln w="12700">
            <a:solidFill>
              <a:schemeClr val="bg2"/>
            </a:solidFill>
            <a:prstDash val="solid"/>
          </a:ln>
        </p:spPr>
      </p:sp>
      <p:sp>
        <p:nvSpPr>
          <p:cNvPr id="14" name="Text 11"/>
          <p:cNvSpPr txBox="1"/>
          <p:nvPr/>
        </p:nvSpPr>
        <p:spPr>
          <a:xfrm>
            <a:off x="4773168"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Dedupe</a:t>
            </a:r>
            <a:endParaRPr lang="en-US" sz="1500" dirty="0"/>
          </a:p>
          <a:p>
            <a:pPr indent="0" marL="0">
              <a:buNone/>
            </a:pPr>
            <a:r>
              <a:rPr lang="en-US" sz="1200" dirty="0">
                <a:solidFill>
                  <a:schemeClr val="accent6"/>
                </a:solidFill>
              </a:rPr>
              <a:t>Rate limiting</a:t>
            </a:r>
            <a:endParaRPr lang="en-US" sz="1500" dirty="0"/>
          </a:p>
        </p:txBody>
      </p:sp>
      <p:sp>
        <p:nvSpPr>
          <p:cNvPr id="15" name="Arrow 3"/>
          <p:cNvSpPr/>
          <p:nvPr/>
        </p:nvSpPr>
        <p:spPr>
          <a:xfrm>
            <a:off x="5870448" y="1874520"/>
            <a:ext cx="219456" cy="219456"/>
          </a:xfrm>
          <a:prstGeom prst="rightArrow">
            <a:avLst/>
          </a:prstGeom>
          <a:solidFill>
            <a:schemeClr val="accent6"/>
          </a:solidFill>
          <a:ln/>
        </p:spPr>
      </p:sp>
      <p:sp>
        <p:nvSpPr>
          <p:cNvPr id="16" name="Stage Detect"/>
          <p:cNvSpPr/>
          <p:nvPr/>
        </p:nvSpPr>
        <p:spPr>
          <a:xfrm>
            <a:off x="6089904" y="1188720"/>
            <a:ext cx="1188720" cy="1600200"/>
          </a:xfrm>
          <a:prstGeom prst="roundRect">
            <a:avLst>
              <a:gd name="adj" fmla="val 7692"/>
            </a:avLst>
          </a:prstGeom>
          <a:solidFill>
            <a:schemeClr val="bg1"/>
          </a:solidFill>
          <a:ln w="12700">
            <a:solidFill>
              <a:schemeClr val="bg2"/>
            </a:solidFill>
            <a:prstDash val="solid"/>
          </a:ln>
        </p:spPr>
      </p:sp>
      <p:sp>
        <p:nvSpPr>
          <p:cNvPr id="17" name="Text 14"/>
          <p:cNvSpPr txBox="1"/>
          <p:nvPr/>
        </p:nvSpPr>
        <p:spPr>
          <a:xfrm>
            <a:off x="6181344"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Detect</a:t>
            </a:r>
            <a:endParaRPr lang="en-US" sz="1500" dirty="0"/>
          </a:p>
          <a:p>
            <a:pPr indent="0" marL="0">
              <a:buNone/>
            </a:pPr>
            <a:r>
              <a:rPr lang="en-US" sz="1200" dirty="0">
                <a:solidFill>
                  <a:schemeClr val="accent6"/>
                </a:solidFill>
              </a:rPr>
              <a:t>MITRE ATT&amp;CK rules</a:t>
            </a:r>
            <a:endParaRPr lang="en-US" sz="1500" dirty="0"/>
          </a:p>
        </p:txBody>
      </p:sp>
      <p:sp>
        <p:nvSpPr>
          <p:cNvPr id="18" name="Arrow 4"/>
          <p:cNvSpPr/>
          <p:nvPr/>
        </p:nvSpPr>
        <p:spPr>
          <a:xfrm>
            <a:off x="7278624" y="1874520"/>
            <a:ext cx="219456" cy="219456"/>
          </a:xfrm>
          <a:prstGeom prst="rightArrow">
            <a:avLst/>
          </a:prstGeom>
          <a:solidFill>
            <a:schemeClr val="accent6"/>
          </a:solidFill>
          <a:ln/>
        </p:spPr>
      </p:sp>
      <p:sp>
        <p:nvSpPr>
          <p:cNvPr id="19" name="Stage Respond"/>
          <p:cNvSpPr/>
          <p:nvPr/>
        </p:nvSpPr>
        <p:spPr>
          <a:xfrm>
            <a:off x="7498080" y="1188720"/>
            <a:ext cx="1188720" cy="1600200"/>
          </a:xfrm>
          <a:prstGeom prst="roundRect">
            <a:avLst>
              <a:gd name="adj" fmla="val 7692"/>
            </a:avLst>
          </a:prstGeom>
          <a:solidFill>
            <a:schemeClr val="bg1"/>
          </a:solidFill>
          <a:ln w="12700">
            <a:solidFill>
              <a:schemeClr val="bg2"/>
            </a:solidFill>
            <a:prstDash val="solid"/>
          </a:ln>
        </p:spPr>
      </p:sp>
      <p:sp>
        <p:nvSpPr>
          <p:cNvPr id="20" name="Text 17"/>
          <p:cNvSpPr txBox="1"/>
          <p:nvPr/>
        </p:nvSpPr>
        <p:spPr>
          <a:xfrm>
            <a:off x="7589520" y="1325880"/>
            <a:ext cx="100584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4"/>
                </a:solidFill>
              </a:rPr>
              <a:t>Respond</a:t>
            </a:r>
            <a:endParaRPr lang="en-US" sz="1500" dirty="0"/>
          </a:p>
          <a:p>
            <a:pPr indent="0" marL="0">
              <a:buNone/>
            </a:pPr>
            <a:r>
              <a:rPr lang="en-US" sz="1200" dirty="0">
                <a:solidFill>
                  <a:schemeClr val="accent6"/>
                </a:solidFill>
              </a:rPr>
              <a:t>Alert, incident, SSE push</a:t>
            </a:r>
            <a:endParaRPr lang="en-US" sz="1500" dirty="0"/>
          </a:p>
        </p:txBody>
      </p:sp>
      <p:sp>
        <p:nvSpPr>
          <p:cNvPr id="21" name="Card Storage"/>
          <p:cNvSpPr/>
          <p:nvPr/>
        </p:nvSpPr>
        <p:spPr>
          <a:xfrm>
            <a:off x="457200" y="3108960"/>
            <a:ext cx="2560320" cy="1463040"/>
          </a:xfrm>
          <a:prstGeom prst="roundRect">
            <a:avLst>
              <a:gd name="adj" fmla="val 6250"/>
            </a:avLst>
          </a:prstGeom>
          <a:solidFill>
            <a:schemeClr val="bg1"/>
          </a:solidFill>
          <a:ln w="12700">
            <a:solidFill>
              <a:schemeClr val="bg2"/>
            </a:solidFill>
            <a:prstDash val="solid"/>
          </a:ln>
        </p:spPr>
      </p:sp>
      <p:sp>
        <p:nvSpPr>
          <p:cNvPr id="22" name="Text 19"/>
          <p:cNvSpPr txBox="1"/>
          <p:nvPr/>
        </p:nvSpPr>
        <p:spPr>
          <a:xfrm>
            <a:off x="685800" y="3246120"/>
            <a:ext cx="2103120" cy="320040"/>
          </a:xfrm>
          <a:prstGeom prst="rect">
            <a:avLst/>
          </a:prstGeom>
          <a:noFill/>
          <a:ln/>
        </p:spPr>
        <p:txBody>
          <a:bodyPr wrap="square" lIns="0" tIns="0" rIns="0" bIns="0" rtlCol="0" anchor="t"/>
          <a:lstStyle/>
          <a:p>
            <a:pPr indent="0" marL="0">
              <a:buNone/>
            </a:pPr>
            <a:r>
              <a:rPr lang="en-US" sz="1600" b="1" dirty="0">
                <a:solidFill>
                  <a:schemeClr val="accent1"/>
                </a:solidFill>
              </a:rPr>
              <a:t>Storage</a:t>
            </a:r>
            <a:endParaRPr lang="en-US" sz="1600" dirty="0"/>
          </a:p>
        </p:txBody>
      </p:sp>
      <p:sp>
        <p:nvSpPr>
          <p:cNvPr id="23" name="Text 20"/>
          <p:cNvSpPr txBox="1"/>
          <p:nvPr/>
        </p:nvSpPr>
        <p:spPr>
          <a:xfrm>
            <a:off x="685800" y="3611880"/>
            <a:ext cx="2103120" cy="914400"/>
          </a:xfrm>
          <a:prstGeom prst="rect">
            <a:avLst/>
          </a:prstGeom>
          <a:noFill/>
          <a:ln/>
        </p:spPr>
        <p:txBody>
          <a:bodyPr wrap="square" lIns="0" tIns="0" rIns="0" bIns="0" rtlCol="0" anchor="t"/>
          <a:lstStyle/>
          <a:p>
            <a:pPr indent="0" marL="0">
              <a:buNone/>
            </a:pPr>
            <a:r>
              <a:rPr lang="en-US" sz="1400" dirty="0">
                <a:solidFill>
                  <a:schemeClr val="accent6"/>
                </a:solidFill>
              </a:rPr>
              <a:t>SQLAlchemy models for events, incidents and users on SQLite or PostgreSQL</a:t>
            </a:r>
            <a:endParaRPr lang="en-US" sz="1400" dirty="0"/>
          </a:p>
        </p:txBody>
      </p:sp>
      <p:sp>
        <p:nvSpPr>
          <p:cNvPr id="24" name="Card SOC dashboard"/>
          <p:cNvSpPr/>
          <p:nvPr/>
        </p:nvSpPr>
        <p:spPr>
          <a:xfrm>
            <a:off x="3291840" y="3108960"/>
            <a:ext cx="2560320" cy="1463040"/>
          </a:xfrm>
          <a:prstGeom prst="roundRect">
            <a:avLst>
              <a:gd name="adj" fmla="val 6250"/>
            </a:avLst>
          </a:prstGeom>
          <a:solidFill>
            <a:schemeClr val="bg1"/>
          </a:solidFill>
          <a:ln w="12700">
            <a:solidFill>
              <a:schemeClr val="bg2"/>
            </a:solidFill>
            <a:prstDash val="solid"/>
          </a:ln>
        </p:spPr>
      </p:sp>
      <p:sp>
        <p:nvSpPr>
          <p:cNvPr id="25" name="Text 22"/>
          <p:cNvSpPr txBox="1"/>
          <p:nvPr/>
        </p:nvSpPr>
        <p:spPr>
          <a:xfrm>
            <a:off x="3520440" y="3246120"/>
            <a:ext cx="2103120" cy="320040"/>
          </a:xfrm>
          <a:prstGeom prst="rect">
            <a:avLst/>
          </a:prstGeom>
          <a:noFill/>
          <a:ln/>
        </p:spPr>
        <p:txBody>
          <a:bodyPr wrap="square" lIns="0" tIns="0" rIns="0" bIns="0" rtlCol="0" anchor="t"/>
          <a:lstStyle/>
          <a:p>
            <a:pPr indent="0" marL="0">
              <a:buNone/>
            </a:pPr>
            <a:r>
              <a:rPr lang="en-US" sz="1600" b="1" dirty="0">
                <a:solidFill>
                  <a:schemeClr val="accent1"/>
                </a:solidFill>
              </a:rPr>
              <a:t>SOC dashboard</a:t>
            </a:r>
            <a:endParaRPr lang="en-US" sz="1600" dirty="0"/>
          </a:p>
        </p:txBody>
      </p:sp>
      <p:sp>
        <p:nvSpPr>
          <p:cNvPr id="26" name="Text 23"/>
          <p:cNvSpPr txBox="1"/>
          <p:nvPr/>
        </p:nvSpPr>
        <p:spPr>
          <a:xfrm>
            <a:off x="3520440" y="3611880"/>
            <a:ext cx="2103120" cy="914400"/>
          </a:xfrm>
          <a:prstGeom prst="rect">
            <a:avLst/>
          </a:prstGeom>
          <a:noFill/>
          <a:ln/>
        </p:spPr>
        <p:txBody>
          <a:bodyPr wrap="square" lIns="0" tIns="0" rIns="0" bIns="0" rtlCol="0" anchor="t"/>
          <a:lstStyle/>
          <a:p>
            <a:pPr indent="0" marL="0">
              <a:buNone/>
            </a:pPr>
            <a:r>
              <a:rPr lang="en-US" sz="1400" dirty="0">
                <a:solidFill>
                  <a:schemeClr val="accent6"/>
                </a:solidFill>
              </a:rPr>
              <a:t>Served on :8000, fed live from /api/v1/soc/stream</a:t>
            </a:r>
            <a:endParaRPr lang="en-US" sz="1400" dirty="0"/>
          </a:p>
        </p:txBody>
      </p:sp>
      <p:sp>
        <p:nvSpPr>
          <p:cNvPr id="27" name="Card Demo Center"/>
          <p:cNvSpPr/>
          <p:nvPr/>
        </p:nvSpPr>
        <p:spPr>
          <a:xfrm>
            <a:off x="6126480" y="3108960"/>
            <a:ext cx="2560320" cy="1463040"/>
          </a:xfrm>
          <a:prstGeom prst="roundRect">
            <a:avLst>
              <a:gd name="adj" fmla="val 6250"/>
            </a:avLst>
          </a:prstGeom>
          <a:solidFill>
            <a:schemeClr val="bg1"/>
          </a:solidFill>
          <a:ln w="12700">
            <a:solidFill>
              <a:schemeClr val="bg2"/>
            </a:solidFill>
            <a:prstDash val="solid"/>
          </a:ln>
        </p:spPr>
      </p:sp>
      <p:sp>
        <p:nvSpPr>
          <p:cNvPr id="28" name="Text 25"/>
          <p:cNvSpPr txBox="1"/>
          <p:nvPr/>
        </p:nvSpPr>
        <p:spPr>
          <a:xfrm>
            <a:off x="6355080" y="3246120"/>
            <a:ext cx="2103120" cy="320040"/>
          </a:xfrm>
          <a:prstGeom prst="rect">
            <a:avLst/>
          </a:prstGeom>
          <a:noFill/>
          <a:ln/>
        </p:spPr>
        <p:txBody>
          <a:bodyPr wrap="square" lIns="0" tIns="0" rIns="0" bIns="0" rtlCol="0" anchor="t"/>
          <a:lstStyle/>
          <a:p>
            <a:pPr indent="0" marL="0">
              <a:buNone/>
            </a:pPr>
            <a:r>
              <a:rPr lang="en-US" sz="1600" b="1" dirty="0">
                <a:solidFill>
                  <a:schemeClr val="accent1"/>
                </a:solidFill>
              </a:rPr>
              <a:t>Demo Center</a:t>
            </a:r>
            <a:endParaRPr lang="en-US" sz="1600" dirty="0"/>
          </a:p>
        </p:txBody>
      </p:sp>
      <p:sp>
        <p:nvSpPr>
          <p:cNvPr id="29" name="Text 26"/>
          <p:cNvSpPr txBox="1"/>
          <p:nvPr/>
        </p:nvSpPr>
        <p:spPr>
          <a:xfrm>
            <a:off x="6355080" y="3611880"/>
            <a:ext cx="2103120" cy="914400"/>
          </a:xfrm>
          <a:prstGeom prst="rect">
            <a:avLst/>
          </a:prstGeom>
          <a:noFill/>
          <a:ln/>
        </p:spPr>
        <p:txBody>
          <a:bodyPr wrap="square" lIns="0" tIns="0" rIns="0" bIns="0" rtlCol="0" anchor="t"/>
          <a:lstStyle/>
          <a:p>
            <a:pPr indent="0" marL="0">
              <a:buNone/>
            </a:pPr>
            <a:r>
              <a:rPr lang="en-US" sz="1400" dirty="0">
                <a:solidFill>
                  <a:schemeClr val="accent6"/>
                </a:solidFill>
              </a:rPr>
              <a:t>Seeded synthetic scenarios go through the same pipeline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The decoys an attacker will find</a:t>
            </a:r>
            <a:endParaRPr lang="en-US" sz="3200" dirty="0"/>
          </a:p>
        </p:txBody>
      </p:sp>
      <p:sp>
        <p:nvSpPr>
          <p:cNvPr id="4" name="Decoy Stripe keys"/>
          <p:cNvSpPr/>
          <p:nvPr/>
        </p:nvSpPr>
        <p:spPr>
          <a:xfrm>
            <a:off x="457200" y="1188720"/>
            <a:ext cx="1499616" cy="1737360"/>
          </a:xfrm>
          <a:prstGeom prst="roundRect">
            <a:avLst>
              <a:gd name="adj" fmla="val 6098"/>
            </a:avLst>
          </a:prstGeom>
          <a:solidFill>
            <a:schemeClr val="bg1"/>
          </a:solidFill>
          <a:ln w="12700">
            <a:solidFill>
              <a:schemeClr val="bg2"/>
            </a:solidFill>
            <a:prstDash val="solid"/>
          </a:ln>
        </p:spPr>
      </p:sp>
      <p:sp>
        <p:nvSpPr>
          <p:cNvPr id="5" name="Badge 1"/>
          <p:cNvSpPr/>
          <p:nvPr/>
        </p:nvSpPr>
        <p:spPr>
          <a:xfrm>
            <a:off x="978408" y="1371600"/>
            <a:ext cx="457200" cy="457200"/>
          </a:xfrm>
          <a:prstGeom prst="ellipse">
            <a:avLst/>
          </a:prstGeom>
          <a:solidFill>
            <a:schemeClr val="accent1"/>
          </a:solidFill>
          <a:ln/>
        </p:spPr>
      </p:sp>
      <p:sp>
        <p:nvSpPr>
          <p:cNvPr id="6" name="Text 3"/>
          <p:cNvSpPr txBox="1"/>
          <p:nvPr/>
        </p:nvSpPr>
        <p:spPr>
          <a:xfrm>
            <a:off x="978408"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548640" y="1965960"/>
            <a:ext cx="1316736" cy="320040"/>
          </a:xfrm>
          <a:prstGeom prst="rect">
            <a:avLst/>
          </a:prstGeom>
          <a:noFill/>
          <a:ln/>
        </p:spPr>
        <p:txBody>
          <a:bodyPr wrap="square" lIns="0" tIns="0" rIns="0" bIns="0" rtlCol="0" anchor="t"/>
          <a:lstStyle/>
          <a:p>
            <a:pPr algn="ctr" indent="0" marL="0">
              <a:buNone/>
            </a:pPr>
            <a:r>
              <a:rPr lang="en-US" sz="1500" b="1" dirty="0">
                <a:solidFill>
                  <a:schemeClr val="tx1"/>
                </a:solidFill>
              </a:rPr>
              <a:t>Stripe keys</a:t>
            </a:r>
            <a:endParaRPr lang="en-US" sz="1500" dirty="0"/>
          </a:p>
        </p:txBody>
      </p:sp>
      <p:sp>
        <p:nvSpPr>
          <p:cNvPr id="8" name="Text 5"/>
          <p:cNvSpPr txBox="1"/>
          <p:nvPr/>
        </p:nvSpPr>
        <p:spPr>
          <a:xfrm>
            <a:off x="548640" y="2331720"/>
            <a:ext cx="1316736" cy="502920"/>
          </a:xfrm>
          <a:prstGeom prst="rect">
            <a:avLst/>
          </a:prstGeom>
          <a:noFill/>
          <a:ln/>
        </p:spPr>
        <p:txBody>
          <a:bodyPr wrap="square" lIns="0" tIns="0" rIns="0" bIns="0" rtlCol="0" anchor="t"/>
          <a:lstStyle/>
          <a:p>
            <a:pPr algn="ctr" indent="0" marL="0">
              <a:buNone/>
            </a:pPr>
            <a:r>
              <a:rPr lang="en-US" sz="1200" dirty="0">
                <a:solidFill>
                  <a:schemeClr val="accent6"/>
                </a:solidFill>
              </a:rPr>
              <a:t>Emulated API credentials</a:t>
            </a:r>
            <a:endParaRPr lang="en-US" sz="1200" dirty="0"/>
          </a:p>
        </p:txBody>
      </p:sp>
      <p:sp>
        <p:nvSpPr>
          <p:cNvPr id="9" name="Decoy Postgres strings"/>
          <p:cNvSpPr/>
          <p:nvPr/>
        </p:nvSpPr>
        <p:spPr>
          <a:xfrm>
            <a:off x="2139696" y="1188720"/>
            <a:ext cx="1499616" cy="1737360"/>
          </a:xfrm>
          <a:prstGeom prst="roundRect">
            <a:avLst>
              <a:gd name="adj" fmla="val 6098"/>
            </a:avLst>
          </a:prstGeom>
          <a:solidFill>
            <a:schemeClr val="bg1"/>
          </a:solidFill>
          <a:ln w="12700">
            <a:solidFill>
              <a:schemeClr val="bg2"/>
            </a:solidFill>
            <a:prstDash val="solid"/>
          </a:ln>
        </p:spPr>
      </p:sp>
      <p:sp>
        <p:nvSpPr>
          <p:cNvPr id="10" name="Badge 2"/>
          <p:cNvSpPr/>
          <p:nvPr/>
        </p:nvSpPr>
        <p:spPr>
          <a:xfrm>
            <a:off x="2660904" y="1371600"/>
            <a:ext cx="457200" cy="457200"/>
          </a:xfrm>
          <a:prstGeom prst="ellipse">
            <a:avLst/>
          </a:prstGeom>
          <a:solidFill>
            <a:schemeClr val="accent3"/>
          </a:solidFill>
          <a:ln/>
        </p:spPr>
      </p:sp>
      <p:sp>
        <p:nvSpPr>
          <p:cNvPr id="11" name="Text 8"/>
          <p:cNvSpPr txBox="1"/>
          <p:nvPr/>
        </p:nvSpPr>
        <p:spPr>
          <a:xfrm>
            <a:off x="2660904"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2231136" y="1965960"/>
            <a:ext cx="1316736" cy="320040"/>
          </a:xfrm>
          <a:prstGeom prst="rect">
            <a:avLst/>
          </a:prstGeom>
          <a:noFill/>
          <a:ln/>
        </p:spPr>
        <p:txBody>
          <a:bodyPr wrap="square" lIns="0" tIns="0" rIns="0" bIns="0" rtlCol="0" anchor="t"/>
          <a:lstStyle/>
          <a:p>
            <a:pPr algn="ctr" indent="0" marL="0">
              <a:buNone/>
            </a:pPr>
            <a:r>
              <a:rPr lang="en-US" sz="1500" b="1" dirty="0">
                <a:solidFill>
                  <a:schemeClr val="tx1"/>
                </a:solidFill>
              </a:rPr>
              <a:t>Postgres strings</a:t>
            </a:r>
            <a:endParaRPr lang="en-US" sz="1500" dirty="0"/>
          </a:p>
        </p:txBody>
      </p:sp>
      <p:sp>
        <p:nvSpPr>
          <p:cNvPr id="13" name="Text 10"/>
          <p:cNvSpPr txBox="1"/>
          <p:nvPr/>
        </p:nvSpPr>
        <p:spPr>
          <a:xfrm>
            <a:off x="2231136" y="2331720"/>
            <a:ext cx="1316736" cy="502920"/>
          </a:xfrm>
          <a:prstGeom prst="rect">
            <a:avLst/>
          </a:prstGeom>
          <a:noFill/>
          <a:ln/>
        </p:spPr>
        <p:txBody>
          <a:bodyPr wrap="square" lIns="0" tIns="0" rIns="0" bIns="0" rtlCol="0" anchor="t"/>
          <a:lstStyle/>
          <a:p>
            <a:pPr algn="ctr" indent="0" marL="0">
              <a:buNone/>
            </a:pPr>
            <a:r>
              <a:rPr lang="en-US" sz="1200" dirty="0">
                <a:solidFill>
                  <a:schemeClr val="accent6"/>
                </a:solidFill>
              </a:rPr>
              <a:t>Fake connection strings</a:t>
            </a:r>
            <a:endParaRPr lang="en-US" sz="1200" dirty="0"/>
          </a:p>
        </p:txBody>
      </p:sp>
      <p:sp>
        <p:nvSpPr>
          <p:cNvPr id="14" name="Decoy AWS IAM"/>
          <p:cNvSpPr/>
          <p:nvPr/>
        </p:nvSpPr>
        <p:spPr>
          <a:xfrm>
            <a:off x="3822192" y="1188720"/>
            <a:ext cx="1499616" cy="1737360"/>
          </a:xfrm>
          <a:prstGeom prst="roundRect">
            <a:avLst>
              <a:gd name="adj" fmla="val 6098"/>
            </a:avLst>
          </a:prstGeom>
          <a:solidFill>
            <a:schemeClr val="bg1"/>
          </a:solidFill>
          <a:ln w="12700">
            <a:solidFill>
              <a:schemeClr val="bg2"/>
            </a:solidFill>
            <a:prstDash val="solid"/>
          </a:ln>
        </p:spPr>
      </p:sp>
      <p:sp>
        <p:nvSpPr>
          <p:cNvPr id="15" name="Badge 3"/>
          <p:cNvSpPr/>
          <p:nvPr/>
        </p:nvSpPr>
        <p:spPr>
          <a:xfrm>
            <a:off x="4343400" y="1371600"/>
            <a:ext cx="457200" cy="457200"/>
          </a:xfrm>
          <a:prstGeom prst="ellipse">
            <a:avLst/>
          </a:prstGeom>
          <a:solidFill>
            <a:schemeClr val="accent2"/>
          </a:solidFill>
          <a:ln/>
        </p:spPr>
      </p:sp>
      <p:sp>
        <p:nvSpPr>
          <p:cNvPr id="16" name="Text 13"/>
          <p:cNvSpPr txBox="1"/>
          <p:nvPr/>
        </p:nvSpPr>
        <p:spPr>
          <a:xfrm>
            <a:off x="434340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3913632" y="1965960"/>
            <a:ext cx="1316736" cy="320040"/>
          </a:xfrm>
          <a:prstGeom prst="rect">
            <a:avLst/>
          </a:prstGeom>
          <a:noFill/>
          <a:ln/>
        </p:spPr>
        <p:txBody>
          <a:bodyPr wrap="square" lIns="0" tIns="0" rIns="0" bIns="0" rtlCol="0" anchor="t"/>
          <a:lstStyle/>
          <a:p>
            <a:pPr algn="ctr" indent="0" marL="0">
              <a:buNone/>
            </a:pPr>
            <a:r>
              <a:rPr lang="en-US" sz="1500" b="1" dirty="0">
                <a:solidFill>
                  <a:schemeClr val="tx1"/>
                </a:solidFill>
              </a:rPr>
              <a:t>AWS IAM</a:t>
            </a:r>
            <a:endParaRPr lang="en-US" sz="1500" dirty="0"/>
          </a:p>
        </p:txBody>
      </p:sp>
      <p:sp>
        <p:nvSpPr>
          <p:cNvPr id="18" name="Text 15"/>
          <p:cNvSpPr txBox="1"/>
          <p:nvPr/>
        </p:nvSpPr>
        <p:spPr>
          <a:xfrm>
            <a:off x="3913632" y="2331720"/>
            <a:ext cx="1316736" cy="502920"/>
          </a:xfrm>
          <a:prstGeom prst="rect">
            <a:avLst/>
          </a:prstGeom>
          <a:noFill/>
          <a:ln/>
        </p:spPr>
        <p:txBody>
          <a:bodyPr wrap="square" lIns="0" tIns="0" rIns="0" bIns="0" rtlCol="0" anchor="t"/>
          <a:lstStyle/>
          <a:p>
            <a:pPr algn="ctr" indent="0" marL="0">
              <a:buNone/>
            </a:pPr>
            <a:r>
              <a:rPr lang="en-US" sz="1200" dirty="0">
                <a:solidFill>
                  <a:schemeClr val="accent6"/>
                </a:solidFill>
              </a:rPr>
              <a:t>Fake metadata endpoint</a:t>
            </a:r>
            <a:endParaRPr lang="en-US" sz="1200" dirty="0"/>
          </a:p>
        </p:txBody>
      </p:sp>
      <p:sp>
        <p:nvSpPr>
          <p:cNvPr id="19" name="Decoy SSH bastion"/>
          <p:cNvSpPr/>
          <p:nvPr/>
        </p:nvSpPr>
        <p:spPr>
          <a:xfrm>
            <a:off x="5504688" y="1188720"/>
            <a:ext cx="1499616" cy="1737360"/>
          </a:xfrm>
          <a:prstGeom prst="roundRect">
            <a:avLst>
              <a:gd name="adj" fmla="val 6098"/>
            </a:avLst>
          </a:prstGeom>
          <a:solidFill>
            <a:schemeClr val="bg1"/>
          </a:solidFill>
          <a:ln w="12700">
            <a:solidFill>
              <a:schemeClr val="bg2"/>
            </a:solidFill>
            <a:prstDash val="solid"/>
          </a:ln>
        </p:spPr>
      </p:sp>
      <p:sp>
        <p:nvSpPr>
          <p:cNvPr id="20" name="Badge 4"/>
          <p:cNvSpPr/>
          <p:nvPr/>
        </p:nvSpPr>
        <p:spPr>
          <a:xfrm>
            <a:off x="6025896" y="1371600"/>
            <a:ext cx="457200" cy="457200"/>
          </a:xfrm>
          <a:prstGeom prst="ellipse">
            <a:avLst/>
          </a:prstGeom>
          <a:solidFill>
            <a:schemeClr val="accent4"/>
          </a:solidFill>
          <a:ln/>
        </p:spPr>
      </p:sp>
      <p:sp>
        <p:nvSpPr>
          <p:cNvPr id="21" name="Text 18"/>
          <p:cNvSpPr txBox="1"/>
          <p:nvPr/>
        </p:nvSpPr>
        <p:spPr>
          <a:xfrm>
            <a:off x="6025896"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5596128" y="1965960"/>
            <a:ext cx="1316736" cy="320040"/>
          </a:xfrm>
          <a:prstGeom prst="rect">
            <a:avLst/>
          </a:prstGeom>
          <a:noFill/>
          <a:ln/>
        </p:spPr>
        <p:txBody>
          <a:bodyPr wrap="square" lIns="0" tIns="0" rIns="0" bIns="0" rtlCol="0" anchor="t"/>
          <a:lstStyle/>
          <a:p>
            <a:pPr algn="ctr" indent="0" marL="0">
              <a:buNone/>
            </a:pPr>
            <a:r>
              <a:rPr lang="en-US" sz="1500" b="1" dirty="0">
                <a:solidFill>
                  <a:schemeClr val="tx1"/>
                </a:solidFill>
              </a:rPr>
              <a:t>SSH bastion</a:t>
            </a:r>
            <a:endParaRPr lang="en-US" sz="1500" dirty="0"/>
          </a:p>
        </p:txBody>
      </p:sp>
      <p:sp>
        <p:nvSpPr>
          <p:cNvPr id="23" name="Text 20"/>
          <p:cNvSpPr txBox="1"/>
          <p:nvPr/>
        </p:nvSpPr>
        <p:spPr>
          <a:xfrm>
            <a:off x="5596128" y="2331720"/>
            <a:ext cx="1316736" cy="502920"/>
          </a:xfrm>
          <a:prstGeom prst="rect">
            <a:avLst/>
          </a:prstGeom>
          <a:noFill/>
          <a:ln/>
        </p:spPr>
        <p:txBody>
          <a:bodyPr wrap="square" lIns="0" tIns="0" rIns="0" bIns="0" rtlCol="0" anchor="t"/>
          <a:lstStyle/>
          <a:p>
            <a:pPr algn="ctr" indent="0" marL="0">
              <a:buNone/>
            </a:pPr>
            <a:r>
              <a:rPr lang="en-US" sz="1200" dirty="0">
                <a:solidFill>
                  <a:schemeClr val="accent6"/>
                </a:solidFill>
              </a:rPr>
              <a:t>OpenSSH-style prompt</a:t>
            </a:r>
            <a:endParaRPr lang="en-US" sz="1200" dirty="0"/>
          </a:p>
        </p:txBody>
      </p:sp>
      <p:sp>
        <p:nvSpPr>
          <p:cNvPr id="24" name="Decoy Canary files"/>
          <p:cNvSpPr/>
          <p:nvPr/>
        </p:nvSpPr>
        <p:spPr>
          <a:xfrm>
            <a:off x="7187184" y="1188720"/>
            <a:ext cx="1499616" cy="1737360"/>
          </a:xfrm>
          <a:prstGeom prst="roundRect">
            <a:avLst>
              <a:gd name="adj" fmla="val 6098"/>
            </a:avLst>
          </a:prstGeom>
          <a:solidFill>
            <a:schemeClr val="bg1"/>
          </a:solidFill>
          <a:ln w="12700">
            <a:solidFill>
              <a:schemeClr val="bg2"/>
            </a:solidFill>
            <a:prstDash val="solid"/>
          </a:ln>
        </p:spPr>
      </p:sp>
      <p:sp>
        <p:nvSpPr>
          <p:cNvPr id="25" name="Badge 5"/>
          <p:cNvSpPr/>
          <p:nvPr/>
        </p:nvSpPr>
        <p:spPr>
          <a:xfrm>
            <a:off x="7708392" y="1371600"/>
            <a:ext cx="457200" cy="457200"/>
          </a:xfrm>
          <a:prstGeom prst="ellipse">
            <a:avLst/>
          </a:prstGeom>
          <a:solidFill>
            <a:schemeClr val="accent5"/>
          </a:solidFill>
          <a:ln/>
        </p:spPr>
      </p:sp>
      <p:sp>
        <p:nvSpPr>
          <p:cNvPr id="26" name="Text 23"/>
          <p:cNvSpPr txBox="1"/>
          <p:nvPr/>
        </p:nvSpPr>
        <p:spPr>
          <a:xfrm>
            <a:off x="7708392"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7278624" y="1965960"/>
            <a:ext cx="1316736" cy="320040"/>
          </a:xfrm>
          <a:prstGeom prst="rect">
            <a:avLst/>
          </a:prstGeom>
          <a:noFill/>
          <a:ln/>
        </p:spPr>
        <p:txBody>
          <a:bodyPr wrap="square" lIns="0" tIns="0" rIns="0" bIns="0" rtlCol="0" anchor="t"/>
          <a:lstStyle/>
          <a:p>
            <a:pPr algn="ctr" indent="0" marL="0">
              <a:buNone/>
            </a:pPr>
            <a:r>
              <a:rPr lang="en-US" sz="1500" b="1" dirty="0">
                <a:solidFill>
                  <a:schemeClr val="tx1"/>
                </a:solidFill>
              </a:rPr>
              <a:t>Canary files</a:t>
            </a:r>
            <a:endParaRPr lang="en-US" sz="1500" dirty="0"/>
          </a:p>
        </p:txBody>
      </p:sp>
      <p:sp>
        <p:nvSpPr>
          <p:cNvPr id="28" name="Text 25"/>
          <p:cNvSpPr txBox="1"/>
          <p:nvPr/>
        </p:nvSpPr>
        <p:spPr>
          <a:xfrm>
            <a:off x="7278624" y="2331720"/>
            <a:ext cx="1316736" cy="502920"/>
          </a:xfrm>
          <a:prstGeom prst="rect">
            <a:avLst/>
          </a:prstGeom>
          <a:noFill/>
          <a:ln/>
        </p:spPr>
        <p:txBody>
          <a:bodyPr wrap="square" lIns="0" tIns="0" rIns="0" bIns="0" rtlCol="0" anchor="t"/>
          <a:lstStyle/>
          <a:p>
            <a:pPr algn="ctr" indent="0" marL="0">
              <a:buNone/>
            </a:pPr>
            <a:r>
              <a:rPr lang="en-US" sz="1200" dirty="0">
                <a:solidFill>
                  <a:schemeClr val="accent6"/>
                </a:solidFill>
              </a:rPr>
              <a:t>Tripwire files on disk</a:t>
            </a:r>
            <a:endParaRPr lang="en-US" sz="1200" dirty="0"/>
          </a:p>
        </p:txBody>
      </p:sp>
      <p:sp>
        <p:nvSpPr>
          <p:cNvPr id="29" name="Trap Decoy HTTP gateway"/>
          <p:cNvSpPr/>
          <p:nvPr/>
        </p:nvSpPr>
        <p:spPr>
          <a:xfrm>
            <a:off x="457200" y="3291840"/>
            <a:ext cx="2560320" cy="1234440"/>
          </a:xfrm>
          <a:prstGeom prst="roundRect">
            <a:avLst>
              <a:gd name="adj" fmla="val 7407"/>
            </a:avLst>
          </a:prstGeom>
          <a:solidFill>
            <a:schemeClr val="tx2"/>
          </a:solidFill>
          <a:ln w="12700">
            <a:solidFill>
              <a:schemeClr val="tx2"/>
            </a:solidFill>
            <a:prstDash val="solid"/>
          </a:ln>
        </p:spPr>
      </p:sp>
      <p:sp>
        <p:nvSpPr>
          <p:cNvPr id="30" name="Text 27"/>
          <p:cNvSpPr txBox="1"/>
          <p:nvPr/>
        </p:nvSpPr>
        <p:spPr>
          <a:xfrm>
            <a:off x="685800" y="3474720"/>
            <a:ext cx="2103120" cy="320040"/>
          </a:xfrm>
          <a:prstGeom prst="rect">
            <a:avLst/>
          </a:prstGeom>
          <a:noFill/>
          <a:ln/>
        </p:spPr>
        <p:txBody>
          <a:bodyPr wrap="square" lIns="0" tIns="0" rIns="0" bIns="0" rtlCol="0" anchor="t"/>
          <a:lstStyle/>
          <a:p>
            <a:pPr indent="0" marL="0">
              <a:buNone/>
            </a:pPr>
            <a:r>
              <a:rPr lang="en-US" sz="1600" b="1" dirty="0">
                <a:solidFill>
                  <a:schemeClr val="bg1"/>
                </a:solidFill>
              </a:rPr>
              <a:t>Decoy HTTP gateway</a:t>
            </a:r>
            <a:endParaRPr lang="en-US" sz="1600" dirty="0"/>
          </a:p>
        </p:txBody>
      </p:sp>
      <p:sp>
        <p:nvSpPr>
          <p:cNvPr id="31" name="Text 28"/>
          <p:cNvSpPr txBox="1"/>
          <p:nvPr/>
        </p:nvSpPr>
        <p:spPr>
          <a:xfrm>
            <a:off x="685800" y="3931920"/>
            <a:ext cx="2103120" cy="365760"/>
          </a:xfrm>
          <a:prstGeom prst="rect">
            <a:avLst/>
          </a:prstGeom>
          <a:noFill/>
          <a:ln/>
        </p:spPr>
        <p:txBody>
          <a:bodyPr wrap="square" lIns="0" tIns="0" rIns="0" bIns="0" rtlCol="0" anchor="t"/>
          <a:lstStyle/>
          <a:p>
            <a:pPr indent="0" marL="0">
              <a:buNone/>
            </a:pPr>
            <a:r>
              <a:rPr lang="en-US" sz="1400" dirty="0">
                <a:solidFill>
                  <a:schemeClr val="bg2"/>
                </a:solidFill>
              </a:rPr>
              <a:t>Port 8080  |  http_trap.py</a:t>
            </a:r>
            <a:endParaRPr lang="en-US" sz="1400" dirty="0"/>
          </a:p>
        </p:txBody>
      </p:sp>
      <p:sp>
        <p:nvSpPr>
          <p:cNvPr id="32" name="Trap Decoy SSH bastion"/>
          <p:cNvSpPr/>
          <p:nvPr/>
        </p:nvSpPr>
        <p:spPr>
          <a:xfrm>
            <a:off x="3291840" y="3291840"/>
            <a:ext cx="2560320" cy="1234440"/>
          </a:xfrm>
          <a:prstGeom prst="roundRect">
            <a:avLst>
              <a:gd name="adj" fmla="val 7407"/>
            </a:avLst>
          </a:prstGeom>
          <a:solidFill>
            <a:schemeClr val="tx2"/>
          </a:solidFill>
          <a:ln w="12700">
            <a:solidFill>
              <a:schemeClr val="tx2"/>
            </a:solidFill>
            <a:prstDash val="solid"/>
          </a:ln>
        </p:spPr>
      </p:sp>
      <p:sp>
        <p:nvSpPr>
          <p:cNvPr id="33" name="Text 30"/>
          <p:cNvSpPr txBox="1"/>
          <p:nvPr/>
        </p:nvSpPr>
        <p:spPr>
          <a:xfrm>
            <a:off x="3520440" y="3474720"/>
            <a:ext cx="2103120" cy="320040"/>
          </a:xfrm>
          <a:prstGeom prst="rect">
            <a:avLst/>
          </a:prstGeom>
          <a:noFill/>
          <a:ln/>
        </p:spPr>
        <p:txBody>
          <a:bodyPr wrap="square" lIns="0" tIns="0" rIns="0" bIns="0" rtlCol="0" anchor="t"/>
          <a:lstStyle/>
          <a:p>
            <a:pPr indent="0" marL="0">
              <a:buNone/>
            </a:pPr>
            <a:r>
              <a:rPr lang="en-US" sz="1600" b="1" dirty="0">
                <a:solidFill>
                  <a:schemeClr val="bg1"/>
                </a:solidFill>
              </a:rPr>
              <a:t>Decoy SSH bastion</a:t>
            </a:r>
            <a:endParaRPr lang="en-US" sz="1600" dirty="0"/>
          </a:p>
        </p:txBody>
      </p:sp>
      <p:sp>
        <p:nvSpPr>
          <p:cNvPr id="34" name="Text 31"/>
          <p:cNvSpPr txBox="1"/>
          <p:nvPr/>
        </p:nvSpPr>
        <p:spPr>
          <a:xfrm>
            <a:off x="3520440" y="3931920"/>
            <a:ext cx="2103120" cy="365760"/>
          </a:xfrm>
          <a:prstGeom prst="rect">
            <a:avLst/>
          </a:prstGeom>
          <a:noFill/>
          <a:ln/>
        </p:spPr>
        <p:txBody>
          <a:bodyPr wrap="square" lIns="0" tIns="0" rIns="0" bIns="0" rtlCol="0" anchor="t"/>
          <a:lstStyle/>
          <a:p>
            <a:pPr indent="0" marL="0">
              <a:buNone/>
            </a:pPr>
            <a:r>
              <a:rPr lang="en-US" sz="1400" dirty="0">
                <a:solidFill>
                  <a:schemeClr val="bg2"/>
                </a:solidFill>
              </a:rPr>
              <a:t>Port 2222  |  ssh_trap.py</a:t>
            </a:r>
            <a:endParaRPr lang="en-US" sz="1400" dirty="0"/>
          </a:p>
        </p:txBody>
      </p:sp>
      <p:sp>
        <p:nvSpPr>
          <p:cNvPr id="35" name="Trap Canary watcher"/>
          <p:cNvSpPr/>
          <p:nvPr/>
        </p:nvSpPr>
        <p:spPr>
          <a:xfrm>
            <a:off x="6126480" y="3291840"/>
            <a:ext cx="2560320" cy="1234440"/>
          </a:xfrm>
          <a:prstGeom prst="roundRect">
            <a:avLst>
              <a:gd name="adj" fmla="val 7407"/>
            </a:avLst>
          </a:prstGeom>
          <a:solidFill>
            <a:schemeClr val="tx2"/>
          </a:solidFill>
          <a:ln w="12700">
            <a:solidFill>
              <a:schemeClr val="tx2"/>
            </a:solidFill>
            <a:prstDash val="solid"/>
          </a:ln>
        </p:spPr>
      </p:sp>
      <p:sp>
        <p:nvSpPr>
          <p:cNvPr id="36" name="Text 33"/>
          <p:cNvSpPr txBox="1"/>
          <p:nvPr/>
        </p:nvSpPr>
        <p:spPr>
          <a:xfrm>
            <a:off x="6355080" y="3474720"/>
            <a:ext cx="2103120" cy="320040"/>
          </a:xfrm>
          <a:prstGeom prst="rect">
            <a:avLst/>
          </a:prstGeom>
          <a:noFill/>
          <a:ln/>
        </p:spPr>
        <p:txBody>
          <a:bodyPr wrap="square" lIns="0" tIns="0" rIns="0" bIns="0" rtlCol="0" anchor="t"/>
          <a:lstStyle/>
          <a:p>
            <a:pPr indent="0" marL="0">
              <a:buNone/>
            </a:pPr>
            <a:r>
              <a:rPr lang="en-US" sz="1600" b="1" dirty="0">
                <a:solidFill>
                  <a:schemeClr val="bg1"/>
                </a:solidFill>
              </a:rPr>
              <a:t>Canary watcher</a:t>
            </a:r>
            <a:endParaRPr lang="en-US" sz="1600" dirty="0"/>
          </a:p>
        </p:txBody>
      </p:sp>
      <p:sp>
        <p:nvSpPr>
          <p:cNvPr id="37" name="Text 34"/>
          <p:cNvSpPr txBox="1"/>
          <p:nvPr/>
        </p:nvSpPr>
        <p:spPr>
          <a:xfrm>
            <a:off x="6355080" y="3931920"/>
            <a:ext cx="2103120" cy="365760"/>
          </a:xfrm>
          <a:prstGeom prst="rect">
            <a:avLst/>
          </a:prstGeom>
          <a:noFill/>
          <a:ln/>
        </p:spPr>
        <p:txBody>
          <a:bodyPr wrap="square" lIns="0" tIns="0" rIns="0" bIns="0" rtlCol="0" anchor="t"/>
          <a:lstStyle/>
          <a:p>
            <a:pPr indent="0" marL="0">
              <a:buNone/>
            </a:pPr>
            <a:r>
              <a:rPr lang="en-US" sz="1400" dirty="0">
                <a:solidFill>
                  <a:schemeClr val="bg2"/>
                </a:solidFill>
              </a:rPr>
              <a:t>canary_trap.py deploys files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Turning raw hits into incidents</a:t>
            </a:r>
            <a:endParaRPr lang="en-US" sz="3200" dirty="0"/>
          </a:p>
        </p:txBody>
      </p:sp>
      <p:sp>
        <p:nvSpPr>
          <p:cNvPr id="4" name="Badge 1"/>
          <p:cNvSpPr/>
          <p:nvPr/>
        </p:nvSpPr>
        <p:spPr>
          <a:xfrm>
            <a:off x="457200" y="1188720"/>
            <a:ext cx="457200" cy="457200"/>
          </a:xfrm>
          <a:prstGeom prst="ellipse">
            <a:avLst/>
          </a:prstGeom>
          <a:solidFill>
            <a:schemeClr val="accent1"/>
          </a:solidFill>
          <a:ln/>
        </p:spPr>
      </p:sp>
      <p:sp>
        <p:nvSpPr>
          <p:cNvPr id="5"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188720"/>
            <a:ext cx="4206240" cy="274320"/>
          </a:xfrm>
          <a:prstGeom prst="rect">
            <a:avLst/>
          </a:prstGeom>
          <a:noFill/>
          <a:ln/>
        </p:spPr>
        <p:txBody>
          <a:bodyPr wrap="square" lIns="0" tIns="0" rIns="0" bIns="0" rtlCol="0" anchor="t"/>
          <a:lstStyle/>
          <a:p>
            <a:pPr indent="0" marL="0">
              <a:buNone/>
            </a:pPr>
            <a:r>
              <a:rPr lang="en-US" sz="1600" b="1" dirty="0">
                <a:solidFill>
                  <a:schemeClr val="tx1"/>
                </a:solidFill>
              </a:rPr>
              <a:t>Validate</a:t>
            </a:r>
            <a:endParaRPr lang="en-US" sz="1600" dirty="0"/>
          </a:p>
        </p:txBody>
      </p:sp>
      <p:sp>
        <p:nvSpPr>
          <p:cNvPr id="7" name="Text 4"/>
          <p:cNvSpPr txBox="1"/>
          <p:nvPr/>
        </p:nvSpPr>
        <p:spPr>
          <a:xfrm>
            <a:off x="1097280" y="1490472"/>
            <a:ext cx="4206240" cy="457200"/>
          </a:xfrm>
          <a:prstGeom prst="rect">
            <a:avLst/>
          </a:prstGeom>
          <a:noFill/>
          <a:ln/>
        </p:spPr>
        <p:txBody>
          <a:bodyPr wrap="square" lIns="0" tIns="0" rIns="0" bIns="0" rtlCol="0" anchor="t"/>
          <a:lstStyle/>
          <a:p>
            <a:pPr indent="0" marL="0">
              <a:buNone/>
            </a:pPr>
            <a:r>
              <a:rPr lang="en-US" sz="1400" dirty="0">
                <a:solidFill>
                  <a:schemeClr val="accent6"/>
                </a:solidFill>
              </a:rPr>
              <a:t>Pydantic checks and normalises every event.</a:t>
            </a:r>
            <a:endParaRPr lang="en-US" sz="1400" dirty="0"/>
          </a:p>
        </p:txBody>
      </p:sp>
      <p:sp>
        <p:nvSpPr>
          <p:cNvPr id="8" name="Badge 2"/>
          <p:cNvSpPr/>
          <p:nvPr/>
        </p:nvSpPr>
        <p:spPr>
          <a:xfrm>
            <a:off x="457200" y="2057400"/>
            <a:ext cx="457200" cy="457200"/>
          </a:xfrm>
          <a:prstGeom prst="ellipse">
            <a:avLst/>
          </a:prstGeom>
          <a:solidFill>
            <a:schemeClr val="accent3"/>
          </a:solidFill>
          <a:ln/>
        </p:spPr>
      </p:sp>
      <p:sp>
        <p:nvSpPr>
          <p:cNvPr id="9" name="Text 6"/>
          <p:cNvSpPr txBox="1"/>
          <p:nvPr/>
        </p:nvSpPr>
        <p:spPr>
          <a:xfrm>
            <a:off x="457200" y="2057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057400"/>
            <a:ext cx="4206240" cy="274320"/>
          </a:xfrm>
          <a:prstGeom prst="rect">
            <a:avLst/>
          </a:prstGeom>
          <a:noFill/>
          <a:ln/>
        </p:spPr>
        <p:txBody>
          <a:bodyPr wrap="square" lIns="0" tIns="0" rIns="0" bIns="0" rtlCol="0" anchor="t"/>
          <a:lstStyle/>
          <a:p>
            <a:pPr indent="0" marL="0">
              <a:buNone/>
            </a:pPr>
            <a:r>
              <a:rPr lang="en-US" sz="1600" b="1" dirty="0">
                <a:solidFill>
                  <a:schemeClr val="tx1"/>
                </a:solidFill>
              </a:rPr>
              <a:t>Redact</a:t>
            </a:r>
            <a:endParaRPr lang="en-US" sz="1600" dirty="0"/>
          </a:p>
        </p:txBody>
      </p:sp>
      <p:sp>
        <p:nvSpPr>
          <p:cNvPr id="11" name="Text 8"/>
          <p:cNvSpPr txBox="1"/>
          <p:nvPr/>
        </p:nvSpPr>
        <p:spPr>
          <a:xfrm>
            <a:off x="1097280" y="2359152"/>
            <a:ext cx="4206240" cy="457200"/>
          </a:xfrm>
          <a:prstGeom prst="rect">
            <a:avLst/>
          </a:prstGeom>
          <a:noFill/>
          <a:ln/>
        </p:spPr>
        <p:txBody>
          <a:bodyPr wrap="square" lIns="0" tIns="0" rIns="0" bIns="0" rtlCol="0" anchor="t"/>
          <a:lstStyle/>
          <a:p>
            <a:pPr indent="0" marL="0">
              <a:buNone/>
            </a:pPr>
            <a:r>
              <a:rPr lang="en-US" sz="1400" dirty="0">
                <a:solidFill>
                  <a:schemeClr val="accent6"/>
                </a:solidFill>
              </a:rPr>
              <a:t>Pattern matching scrubs passwords and cookies first.</a:t>
            </a:r>
            <a:endParaRPr lang="en-US" sz="1400" dirty="0"/>
          </a:p>
        </p:txBody>
      </p:sp>
      <p:sp>
        <p:nvSpPr>
          <p:cNvPr id="12" name="Badge 3"/>
          <p:cNvSpPr/>
          <p:nvPr/>
        </p:nvSpPr>
        <p:spPr>
          <a:xfrm>
            <a:off x="457200" y="2926080"/>
            <a:ext cx="457200" cy="457200"/>
          </a:xfrm>
          <a:prstGeom prst="ellipse">
            <a:avLst/>
          </a:prstGeom>
          <a:solidFill>
            <a:schemeClr val="accent2"/>
          </a:solidFill>
          <a:ln/>
        </p:spPr>
      </p:sp>
      <p:sp>
        <p:nvSpPr>
          <p:cNvPr id="13" name="Text 10"/>
          <p:cNvSpPr txBox="1"/>
          <p:nvPr/>
        </p:nvSpPr>
        <p:spPr>
          <a:xfrm>
            <a:off x="457200" y="2926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2926080"/>
            <a:ext cx="4206240" cy="274320"/>
          </a:xfrm>
          <a:prstGeom prst="rect">
            <a:avLst/>
          </a:prstGeom>
          <a:noFill/>
          <a:ln/>
        </p:spPr>
        <p:txBody>
          <a:bodyPr wrap="square" lIns="0" tIns="0" rIns="0" bIns="0" rtlCol="0" anchor="t"/>
          <a:lstStyle/>
          <a:p>
            <a:pPr indent="0" marL="0">
              <a:buNone/>
            </a:pPr>
            <a:r>
              <a:rPr lang="en-US" sz="1600" b="1" dirty="0">
                <a:solidFill>
                  <a:schemeClr val="tx1"/>
                </a:solidFill>
              </a:rPr>
              <a:t>Dedupe</a:t>
            </a:r>
            <a:endParaRPr lang="en-US" sz="1600" dirty="0"/>
          </a:p>
        </p:txBody>
      </p:sp>
      <p:sp>
        <p:nvSpPr>
          <p:cNvPr id="15" name="Text 12"/>
          <p:cNvSpPr txBox="1"/>
          <p:nvPr/>
        </p:nvSpPr>
        <p:spPr>
          <a:xfrm>
            <a:off x="1097280" y="3227832"/>
            <a:ext cx="4206240" cy="457200"/>
          </a:xfrm>
          <a:prstGeom prst="rect">
            <a:avLst/>
          </a:prstGeom>
          <a:noFill/>
          <a:ln/>
        </p:spPr>
        <p:txBody>
          <a:bodyPr wrap="square" lIns="0" tIns="0" rIns="0" bIns="0" rtlCol="0" anchor="t"/>
          <a:lstStyle/>
          <a:p>
            <a:pPr indent="0" marL="0">
              <a:buNone/>
            </a:pPr>
            <a:r>
              <a:rPr lang="en-US" sz="1400" dirty="0">
                <a:solidFill>
                  <a:schemeClr val="accent6"/>
                </a:solidFill>
              </a:rPr>
              <a:t>Repeated hits are merged and rate-limited.</a:t>
            </a:r>
            <a:endParaRPr lang="en-US" sz="1400" dirty="0"/>
          </a:p>
        </p:txBody>
      </p:sp>
      <p:sp>
        <p:nvSpPr>
          <p:cNvPr id="16" name="Badge 4"/>
          <p:cNvSpPr/>
          <p:nvPr/>
        </p:nvSpPr>
        <p:spPr>
          <a:xfrm>
            <a:off x="457200" y="3794760"/>
            <a:ext cx="457200" cy="457200"/>
          </a:xfrm>
          <a:prstGeom prst="ellipse">
            <a:avLst/>
          </a:prstGeom>
          <a:solidFill>
            <a:schemeClr val="accent4"/>
          </a:solidFill>
          <a:ln/>
        </p:spPr>
      </p:sp>
      <p:sp>
        <p:nvSpPr>
          <p:cNvPr id="17" name="Text 14"/>
          <p:cNvSpPr txBox="1"/>
          <p:nvPr/>
        </p:nvSpPr>
        <p:spPr>
          <a:xfrm>
            <a:off x="457200"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5"/>
          <p:cNvSpPr txBox="1"/>
          <p:nvPr/>
        </p:nvSpPr>
        <p:spPr>
          <a:xfrm>
            <a:off x="1097280" y="3794760"/>
            <a:ext cx="4206240" cy="274320"/>
          </a:xfrm>
          <a:prstGeom prst="rect">
            <a:avLst/>
          </a:prstGeom>
          <a:noFill/>
          <a:ln/>
        </p:spPr>
        <p:txBody>
          <a:bodyPr wrap="square" lIns="0" tIns="0" rIns="0" bIns="0" rtlCol="0" anchor="t"/>
          <a:lstStyle/>
          <a:p>
            <a:pPr indent="0" marL="0">
              <a:buNone/>
            </a:pPr>
            <a:r>
              <a:rPr lang="en-US" sz="1600" b="1" dirty="0">
                <a:solidFill>
                  <a:schemeClr val="tx1"/>
                </a:solidFill>
              </a:rPr>
              <a:t>Detect</a:t>
            </a:r>
            <a:endParaRPr lang="en-US" sz="1600" dirty="0"/>
          </a:p>
        </p:txBody>
      </p:sp>
      <p:sp>
        <p:nvSpPr>
          <p:cNvPr id="19" name="Text 16"/>
          <p:cNvSpPr txBox="1"/>
          <p:nvPr/>
        </p:nvSpPr>
        <p:spPr>
          <a:xfrm>
            <a:off x="1097280" y="4096512"/>
            <a:ext cx="4206240" cy="457200"/>
          </a:xfrm>
          <a:prstGeom prst="rect">
            <a:avLst/>
          </a:prstGeom>
          <a:noFill/>
          <a:ln/>
        </p:spPr>
        <p:txBody>
          <a:bodyPr wrap="square" lIns="0" tIns="0" rIns="0" bIns="0" rtlCol="0" anchor="t"/>
          <a:lstStyle/>
          <a:p>
            <a:pPr indent="0" marL="0">
              <a:buNone/>
            </a:pPr>
            <a:r>
              <a:rPr lang="en-US" sz="1400" dirty="0">
                <a:solidFill>
                  <a:schemeClr val="accent6"/>
                </a:solidFill>
              </a:rPr>
              <a:t>Explainable MITRE ATT&amp;CK rules flag the event.</a:t>
            </a:r>
            <a:endParaRPr lang="en-US" sz="1400" dirty="0"/>
          </a:p>
        </p:txBody>
      </p:sp>
      <p:sp>
        <p:nvSpPr>
          <p:cNvPr id="20" name="Text 17"/>
          <p:cNvSpPr txBox="1"/>
          <p:nvPr/>
        </p:nvSpPr>
        <p:spPr>
          <a:xfrm>
            <a:off x="5852160" y="1188720"/>
            <a:ext cx="2743200" cy="320040"/>
          </a:xfrm>
          <a:prstGeom prst="rect">
            <a:avLst/>
          </a:prstGeom>
          <a:noFill/>
          <a:ln/>
        </p:spPr>
        <p:txBody>
          <a:bodyPr wrap="square" lIns="0" tIns="0" rIns="0" bIns="0" rtlCol="0" anchor="t"/>
          <a:lstStyle/>
          <a:p>
            <a:pPr indent="0" marL="0">
              <a:buNone/>
            </a:pPr>
            <a:r>
              <a:rPr lang="en-US" sz="1800" b="1" dirty="0">
                <a:solidFill>
                  <a:schemeClr val="accent1"/>
                </a:solidFill>
              </a:rPr>
              <a:t>Incident lifecycle</a:t>
            </a:r>
            <a:endParaRPr lang="en-US" sz="1800" dirty="0"/>
          </a:p>
        </p:txBody>
      </p:sp>
      <p:sp>
        <p:nvSpPr>
          <p:cNvPr id="21" name="State OPEN"/>
          <p:cNvSpPr/>
          <p:nvPr/>
        </p:nvSpPr>
        <p:spPr>
          <a:xfrm>
            <a:off x="5852160" y="1645920"/>
            <a:ext cx="2834640" cy="502920"/>
          </a:xfrm>
          <a:prstGeom prst="roundRect">
            <a:avLst>
              <a:gd name="adj" fmla="val 18182"/>
            </a:avLst>
          </a:prstGeom>
          <a:solidFill>
            <a:schemeClr val="accent5"/>
          </a:solidFill>
          <a:ln w="12700">
            <a:solidFill>
              <a:schemeClr val="accent5"/>
            </a:solidFill>
            <a:prstDash val="solid"/>
          </a:ln>
        </p:spPr>
      </p:sp>
      <p:sp>
        <p:nvSpPr>
          <p:cNvPr id="22" name="Text 19"/>
          <p:cNvSpPr txBox="1"/>
          <p:nvPr/>
        </p:nvSpPr>
        <p:spPr>
          <a:xfrm>
            <a:off x="5852160" y="1645920"/>
            <a:ext cx="2834640" cy="502920"/>
          </a:xfrm>
          <a:prstGeom prst="rect">
            <a:avLst/>
          </a:prstGeom>
          <a:noFill/>
          <a:ln/>
        </p:spPr>
        <p:txBody>
          <a:bodyPr wrap="square" lIns="0" tIns="0" rIns="0" bIns="0" rtlCol="0" anchor="ctr"/>
          <a:lstStyle/>
          <a:p>
            <a:pPr algn="ctr" indent="0" marL="0">
              <a:buNone/>
            </a:pPr>
            <a:r>
              <a:rPr lang="en-US" sz="1400" b="1" dirty="0">
                <a:solidFill>
                  <a:schemeClr val="bg1"/>
                </a:solidFill>
              </a:rPr>
              <a:t>OPEN</a:t>
            </a:r>
            <a:endParaRPr lang="en-US" sz="1400" dirty="0"/>
          </a:p>
        </p:txBody>
      </p:sp>
      <p:sp>
        <p:nvSpPr>
          <p:cNvPr id="23" name="State INVESTIGATING"/>
          <p:cNvSpPr/>
          <p:nvPr/>
        </p:nvSpPr>
        <p:spPr>
          <a:xfrm>
            <a:off x="5852160" y="2331720"/>
            <a:ext cx="2834640" cy="502920"/>
          </a:xfrm>
          <a:prstGeom prst="roundRect">
            <a:avLst>
              <a:gd name="adj" fmla="val 18182"/>
            </a:avLst>
          </a:prstGeom>
          <a:solidFill>
            <a:schemeClr val="bg1"/>
          </a:solidFill>
          <a:ln w="12700">
            <a:solidFill>
              <a:schemeClr val="bg2"/>
            </a:solidFill>
            <a:prstDash val="solid"/>
          </a:ln>
        </p:spPr>
      </p:sp>
      <p:sp>
        <p:nvSpPr>
          <p:cNvPr id="24" name="Text 21"/>
          <p:cNvSpPr txBox="1"/>
          <p:nvPr/>
        </p:nvSpPr>
        <p:spPr>
          <a:xfrm>
            <a:off x="5852160" y="2331720"/>
            <a:ext cx="2834640" cy="502920"/>
          </a:xfrm>
          <a:prstGeom prst="rect">
            <a:avLst/>
          </a:prstGeom>
          <a:noFill/>
          <a:ln/>
        </p:spPr>
        <p:txBody>
          <a:bodyPr wrap="square" lIns="0" tIns="0" rIns="0" bIns="0" rtlCol="0" anchor="ctr"/>
          <a:lstStyle/>
          <a:p>
            <a:pPr algn="ctr" indent="0" marL="0">
              <a:buNone/>
            </a:pPr>
            <a:r>
              <a:rPr lang="en-US" sz="1400" b="1" dirty="0">
                <a:solidFill>
                  <a:schemeClr val="tx1"/>
                </a:solidFill>
              </a:rPr>
              <a:t>INVESTIGATING</a:t>
            </a:r>
            <a:endParaRPr lang="en-US" sz="1400" dirty="0"/>
          </a:p>
        </p:txBody>
      </p:sp>
      <p:sp>
        <p:nvSpPr>
          <p:cNvPr id="25" name="State RESOLVED"/>
          <p:cNvSpPr/>
          <p:nvPr/>
        </p:nvSpPr>
        <p:spPr>
          <a:xfrm>
            <a:off x="5852160" y="3017520"/>
            <a:ext cx="2834640" cy="502920"/>
          </a:xfrm>
          <a:prstGeom prst="roundRect">
            <a:avLst>
              <a:gd name="adj" fmla="val 18182"/>
            </a:avLst>
          </a:prstGeom>
          <a:solidFill>
            <a:schemeClr val="bg1"/>
          </a:solidFill>
          <a:ln w="12700">
            <a:solidFill>
              <a:schemeClr val="bg2"/>
            </a:solidFill>
            <a:prstDash val="solid"/>
          </a:ln>
        </p:spPr>
      </p:sp>
      <p:sp>
        <p:nvSpPr>
          <p:cNvPr id="26" name="Text 23"/>
          <p:cNvSpPr txBox="1"/>
          <p:nvPr/>
        </p:nvSpPr>
        <p:spPr>
          <a:xfrm>
            <a:off x="5852160" y="3017520"/>
            <a:ext cx="2834640" cy="502920"/>
          </a:xfrm>
          <a:prstGeom prst="rect">
            <a:avLst/>
          </a:prstGeom>
          <a:noFill/>
          <a:ln/>
        </p:spPr>
        <p:txBody>
          <a:bodyPr wrap="square" lIns="0" tIns="0" rIns="0" bIns="0" rtlCol="0" anchor="ctr"/>
          <a:lstStyle/>
          <a:p>
            <a:pPr algn="ctr" indent="0" marL="0">
              <a:buNone/>
            </a:pPr>
            <a:r>
              <a:rPr lang="en-US" sz="1400" b="1" dirty="0">
                <a:solidFill>
                  <a:schemeClr val="tx1"/>
                </a:solidFill>
              </a:rPr>
              <a:t>RESOLVED</a:t>
            </a:r>
            <a:endParaRPr lang="en-US" sz="1400" dirty="0"/>
          </a:p>
        </p:txBody>
      </p:sp>
      <p:sp>
        <p:nvSpPr>
          <p:cNvPr id="27" name="State CLOSED"/>
          <p:cNvSpPr/>
          <p:nvPr/>
        </p:nvSpPr>
        <p:spPr>
          <a:xfrm>
            <a:off x="5852160" y="3703320"/>
            <a:ext cx="2834640" cy="502920"/>
          </a:xfrm>
          <a:prstGeom prst="roundRect">
            <a:avLst>
              <a:gd name="adj" fmla="val 18182"/>
            </a:avLst>
          </a:prstGeom>
          <a:solidFill>
            <a:schemeClr val="bg1"/>
          </a:solidFill>
          <a:ln w="12700">
            <a:solidFill>
              <a:schemeClr val="bg2"/>
            </a:solidFill>
            <a:prstDash val="solid"/>
          </a:ln>
        </p:spPr>
      </p:sp>
      <p:sp>
        <p:nvSpPr>
          <p:cNvPr id="28" name="Text 25"/>
          <p:cNvSpPr txBox="1"/>
          <p:nvPr/>
        </p:nvSpPr>
        <p:spPr>
          <a:xfrm>
            <a:off x="5852160" y="3703320"/>
            <a:ext cx="2834640" cy="502920"/>
          </a:xfrm>
          <a:prstGeom prst="rect">
            <a:avLst/>
          </a:prstGeom>
          <a:noFill/>
          <a:ln/>
        </p:spPr>
        <p:txBody>
          <a:bodyPr wrap="square" lIns="0" tIns="0" rIns="0" bIns="0" rtlCol="0" anchor="ctr"/>
          <a:lstStyle/>
          <a:p>
            <a:pPr algn="ctr" indent="0" marL="0">
              <a:buNone/>
            </a:pPr>
            <a:r>
              <a:rPr lang="en-US" sz="1400" b="1" dirty="0">
                <a:solidFill>
                  <a:schemeClr val="tx1"/>
                </a:solidFill>
              </a:rPr>
              <a:t>CLOSED</a:t>
            </a:r>
            <a:endParaRPr lang="en-US" sz="1400" dirty="0"/>
          </a:p>
        </p:txBody>
      </p:sp>
      <p:sp>
        <p:nvSpPr>
          <p:cNvPr id="29" name="Text 26"/>
          <p:cNvSpPr txBox="1"/>
          <p:nvPr/>
        </p:nvSpPr>
        <p:spPr>
          <a:xfrm>
            <a:off x="5852160" y="4434840"/>
            <a:ext cx="2834640" cy="274320"/>
          </a:xfrm>
          <a:prstGeom prst="rect">
            <a:avLst/>
          </a:prstGeom>
          <a:noFill/>
          <a:ln/>
        </p:spPr>
        <p:txBody>
          <a:bodyPr wrap="square" lIns="0" tIns="0" rIns="0" bIns="0" rtlCol="0" anchor="t"/>
          <a:lstStyle/>
          <a:p>
            <a:pPr indent="0" marL="0">
              <a:buNone/>
            </a:pPr>
            <a:r>
              <a:rPr lang="en-US" sz="1200" dirty="0">
                <a:solidFill>
                  <a:schemeClr val="accent6"/>
                </a:solidFill>
              </a:rPr>
              <a:t>Analyst notes keep an audit trail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 SOC dashboard that updates itself</a:t>
            </a:r>
            <a:endParaRPr lang="en-US" sz="3200" dirty="0"/>
          </a:p>
        </p:txBody>
      </p:sp>
      <p:sp>
        <p:nvSpPr>
          <p:cNvPr id="4" name="Badge 1"/>
          <p:cNvSpPr/>
          <p:nvPr/>
        </p:nvSpPr>
        <p:spPr>
          <a:xfrm>
            <a:off x="457200" y="1188720"/>
            <a:ext cx="457200" cy="457200"/>
          </a:xfrm>
          <a:prstGeom prst="ellipse">
            <a:avLst/>
          </a:prstGeom>
          <a:solidFill>
            <a:schemeClr val="accent1"/>
          </a:solidFill>
          <a:ln/>
        </p:spPr>
      </p:sp>
      <p:sp>
        <p:nvSpPr>
          <p:cNvPr id="5"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188720"/>
            <a:ext cx="3931920" cy="274320"/>
          </a:xfrm>
          <a:prstGeom prst="rect">
            <a:avLst/>
          </a:prstGeom>
          <a:noFill/>
          <a:ln/>
        </p:spPr>
        <p:txBody>
          <a:bodyPr wrap="square" lIns="0" tIns="0" rIns="0" bIns="0" rtlCol="0" anchor="t"/>
          <a:lstStyle/>
          <a:p>
            <a:pPr indent="0" marL="0">
              <a:buNone/>
            </a:pPr>
            <a:r>
              <a:rPr lang="en-US" sz="1600" b="1" dirty="0">
                <a:solidFill>
                  <a:schemeClr val="tx1"/>
                </a:solidFill>
              </a:rPr>
              <a:t>Live alerts without polling</a:t>
            </a:r>
            <a:endParaRPr lang="en-US" sz="1600" dirty="0"/>
          </a:p>
        </p:txBody>
      </p:sp>
      <p:sp>
        <p:nvSpPr>
          <p:cNvPr id="7" name="Text 4"/>
          <p:cNvSpPr txBox="1"/>
          <p:nvPr/>
        </p:nvSpPr>
        <p:spPr>
          <a:xfrm>
            <a:off x="1097280" y="1490472"/>
            <a:ext cx="3931920" cy="457200"/>
          </a:xfrm>
          <a:prstGeom prst="rect">
            <a:avLst/>
          </a:prstGeom>
          <a:noFill/>
          <a:ln/>
        </p:spPr>
        <p:txBody>
          <a:bodyPr wrap="square" lIns="0" tIns="0" rIns="0" bIns="0" rtlCol="0" anchor="t"/>
          <a:lstStyle/>
          <a:p>
            <a:pPr indent="0" marL="0">
              <a:buNone/>
            </a:pPr>
            <a:r>
              <a:rPr lang="en-US" sz="1400" dirty="0">
                <a:solidFill>
                  <a:schemeClr val="accent6"/>
                </a:solidFill>
              </a:rPr>
              <a:t>SSE streams events to connected analysts.</a:t>
            </a:r>
            <a:endParaRPr lang="en-US" sz="1400" dirty="0"/>
          </a:p>
        </p:txBody>
      </p:sp>
      <p:sp>
        <p:nvSpPr>
          <p:cNvPr id="8" name="Badge 2"/>
          <p:cNvSpPr/>
          <p:nvPr/>
        </p:nvSpPr>
        <p:spPr>
          <a:xfrm>
            <a:off x="457200" y="2331720"/>
            <a:ext cx="457200" cy="457200"/>
          </a:xfrm>
          <a:prstGeom prst="ellipse">
            <a:avLst/>
          </a:prstGeom>
          <a:solidFill>
            <a:schemeClr val="accent3"/>
          </a:solidFill>
          <a:ln/>
        </p:spPr>
      </p:sp>
      <p:sp>
        <p:nvSpPr>
          <p:cNvPr id="9" name="Text 6"/>
          <p:cNvSpPr txBox="1"/>
          <p:nvPr/>
        </p:nvSpPr>
        <p:spPr>
          <a:xfrm>
            <a:off x="457200" y="2331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331720"/>
            <a:ext cx="3931920" cy="274320"/>
          </a:xfrm>
          <a:prstGeom prst="rect">
            <a:avLst/>
          </a:prstGeom>
          <a:noFill/>
          <a:ln/>
        </p:spPr>
        <p:txBody>
          <a:bodyPr wrap="square" lIns="0" tIns="0" rIns="0" bIns="0" rtlCol="0" anchor="t"/>
          <a:lstStyle/>
          <a:p>
            <a:pPr indent="0" marL="0">
              <a:buNone/>
            </a:pPr>
            <a:r>
              <a:rPr lang="en-US" sz="1600" b="1" dirty="0">
                <a:solidFill>
                  <a:schemeClr val="tx1"/>
                </a:solidFill>
              </a:rPr>
              <a:t>Overview, events, incidents</a:t>
            </a:r>
            <a:endParaRPr lang="en-US" sz="1600" dirty="0"/>
          </a:p>
        </p:txBody>
      </p:sp>
      <p:sp>
        <p:nvSpPr>
          <p:cNvPr id="11" name="Text 8"/>
          <p:cNvSpPr txBox="1"/>
          <p:nvPr/>
        </p:nvSpPr>
        <p:spPr>
          <a:xfrm>
            <a:off x="1097280" y="2633472"/>
            <a:ext cx="3931920" cy="457200"/>
          </a:xfrm>
          <a:prstGeom prst="rect">
            <a:avLst/>
          </a:prstGeom>
          <a:noFill/>
          <a:ln/>
        </p:spPr>
        <p:txBody>
          <a:bodyPr wrap="square" lIns="0" tIns="0" rIns="0" bIns="0" rtlCol="0" anchor="t"/>
          <a:lstStyle/>
          <a:p>
            <a:pPr indent="0" marL="0">
              <a:buNone/>
            </a:pPr>
            <a:r>
              <a:rPr lang="en-US" sz="1400" dirty="0">
                <a:solidFill>
                  <a:schemeClr val="accent6"/>
                </a:solidFill>
              </a:rPr>
              <a:t>Metrics, filtered logs and incident status.</a:t>
            </a:r>
            <a:endParaRPr lang="en-US" sz="1400" dirty="0"/>
          </a:p>
        </p:txBody>
      </p:sp>
      <p:sp>
        <p:nvSpPr>
          <p:cNvPr id="12" name="Badge 3"/>
          <p:cNvSpPr/>
          <p:nvPr/>
        </p:nvSpPr>
        <p:spPr>
          <a:xfrm>
            <a:off x="457200" y="3474720"/>
            <a:ext cx="457200" cy="457200"/>
          </a:xfrm>
          <a:prstGeom prst="ellipse">
            <a:avLst/>
          </a:prstGeom>
          <a:solidFill>
            <a:schemeClr val="accent2"/>
          </a:solidFill>
          <a:ln/>
        </p:spPr>
      </p:sp>
      <p:sp>
        <p:nvSpPr>
          <p:cNvPr id="13" name="Text 10"/>
          <p:cNvSpPr txBox="1"/>
          <p:nvPr/>
        </p:nvSpPr>
        <p:spPr>
          <a:xfrm>
            <a:off x="45720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3474720"/>
            <a:ext cx="3931920" cy="274320"/>
          </a:xfrm>
          <a:prstGeom prst="rect">
            <a:avLst/>
          </a:prstGeom>
          <a:noFill/>
          <a:ln/>
        </p:spPr>
        <p:txBody>
          <a:bodyPr wrap="square" lIns="0" tIns="0" rIns="0" bIns="0" rtlCol="0" anchor="t"/>
          <a:lstStyle/>
          <a:p>
            <a:pPr indent="0" marL="0">
              <a:buNone/>
            </a:pPr>
            <a:r>
              <a:rPr lang="en-US" sz="1600" b="1" dirty="0">
                <a:solidFill>
                  <a:schemeClr val="tx1"/>
                </a:solidFill>
              </a:rPr>
              <a:t>Demo Center</a:t>
            </a:r>
            <a:endParaRPr lang="en-US" sz="1600" dirty="0"/>
          </a:p>
        </p:txBody>
      </p:sp>
      <p:sp>
        <p:nvSpPr>
          <p:cNvPr id="15" name="Text 12"/>
          <p:cNvSpPr txBox="1"/>
          <p:nvPr/>
        </p:nvSpPr>
        <p:spPr>
          <a:xfrm>
            <a:off x="1097280" y="3776472"/>
            <a:ext cx="3931920" cy="457200"/>
          </a:xfrm>
          <a:prstGeom prst="rect">
            <a:avLst/>
          </a:prstGeom>
          <a:noFill/>
          <a:ln/>
        </p:spPr>
        <p:txBody>
          <a:bodyPr wrap="square" lIns="0" tIns="0" rIns="0" bIns="0" rtlCol="0" anchor="t"/>
          <a:lstStyle/>
          <a:p>
            <a:pPr indent="0" marL="0">
              <a:buNone/>
            </a:pPr>
            <a:r>
              <a:rPr lang="en-US" sz="1400" dirty="0">
                <a:solidFill>
                  <a:schemeClr val="accent6"/>
                </a:solidFill>
              </a:rPr>
              <a:t>Synthetic scenarios, reset per run.</a:t>
            </a:r>
            <a:endParaRPr lang="en-US" sz="1400" dirty="0"/>
          </a:p>
        </p:txBody>
      </p:sp>
      <p:sp>
        <p:nvSpPr>
          <p:cNvPr id="16" name="Frontend files"/>
          <p:cNvSpPr/>
          <p:nvPr/>
        </p:nvSpPr>
        <p:spPr>
          <a:xfrm>
            <a:off x="5394960" y="1188720"/>
            <a:ext cx="3291840" cy="3383280"/>
          </a:xfrm>
          <a:prstGeom prst="roundRect">
            <a:avLst>
              <a:gd name="adj" fmla="val 2778"/>
            </a:avLst>
          </a:prstGeom>
          <a:solidFill>
            <a:schemeClr val="bg1"/>
          </a:solidFill>
          <a:ln w="12700">
            <a:solidFill>
              <a:schemeClr val="bg2"/>
            </a:solidFill>
            <a:prstDash val="solid"/>
          </a:ln>
        </p:spPr>
      </p:sp>
      <p:sp>
        <p:nvSpPr>
          <p:cNvPr id="17" name="Text 14"/>
          <p:cNvSpPr txBox="1"/>
          <p:nvPr/>
        </p:nvSpPr>
        <p:spPr>
          <a:xfrm>
            <a:off x="5623560" y="1325880"/>
            <a:ext cx="2834640" cy="320040"/>
          </a:xfrm>
          <a:prstGeom prst="rect">
            <a:avLst/>
          </a:prstGeom>
          <a:noFill/>
          <a:ln/>
        </p:spPr>
        <p:txBody>
          <a:bodyPr wrap="square" lIns="0" tIns="0" rIns="0" bIns="0" rtlCol="0" anchor="t"/>
          <a:lstStyle/>
          <a:p>
            <a:pPr indent="0" marL="0">
              <a:buNone/>
            </a:pPr>
            <a:r>
              <a:rPr lang="en-US" sz="1600" b="1" dirty="0">
                <a:solidFill>
                  <a:schemeClr val="accent1"/>
                </a:solidFill>
              </a:rPr>
              <a:t>Frontend modules</a:t>
            </a:r>
            <a:endParaRPr lang="en-US" sz="1600" dirty="0"/>
          </a:p>
        </p:txBody>
      </p:sp>
      <p:sp>
        <p:nvSpPr>
          <p:cNvPr id="18" name="Text 15"/>
          <p:cNvSpPr txBox="1"/>
          <p:nvPr/>
        </p:nvSpPr>
        <p:spPr>
          <a:xfrm>
            <a:off x="5623560" y="1783080"/>
            <a:ext cx="2834640" cy="24688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index.html + styles.css</a:t>
            </a:r>
            <a:endParaRPr lang="en-US" sz="1300" dirty="0"/>
          </a:p>
        </p:txBody>
      </p:sp>
      <p:sp>
        <p:nvSpPr>
          <p:cNvPr id="19" name="Text 16"/>
          <p:cNvSpPr txBox="1"/>
          <p:nvPr/>
        </p:nvSpPr>
        <p:spPr>
          <a:xfrm>
            <a:off x="5623560" y="2029968"/>
            <a:ext cx="2834640" cy="228600"/>
          </a:xfrm>
          <a:prstGeom prst="rect">
            <a:avLst/>
          </a:prstGeom>
          <a:noFill/>
          <a:ln/>
        </p:spPr>
        <p:txBody>
          <a:bodyPr wrap="square" lIns="0" tIns="0" rIns="0" bIns="0" rtlCol="0" anchor="t"/>
          <a:lstStyle/>
          <a:p>
            <a:pPr indent="0" marL="0">
              <a:buNone/>
            </a:pPr>
            <a:r>
              <a:rPr lang="en-US" sz="1200" dirty="0">
                <a:solidFill>
                  <a:schemeClr val="accent6"/>
                </a:solidFill>
              </a:rPr>
              <a:t>Glassmorphism UI shell</a:t>
            </a:r>
            <a:endParaRPr lang="en-US" sz="1200" dirty="0"/>
          </a:p>
        </p:txBody>
      </p:sp>
      <p:sp>
        <p:nvSpPr>
          <p:cNvPr id="20" name="Text 17"/>
          <p:cNvSpPr txBox="1"/>
          <p:nvPr/>
        </p:nvSpPr>
        <p:spPr>
          <a:xfrm>
            <a:off x="5623560" y="2304288"/>
            <a:ext cx="2834640" cy="24688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api.js</a:t>
            </a:r>
            <a:endParaRPr lang="en-US" sz="1300" dirty="0"/>
          </a:p>
        </p:txBody>
      </p:sp>
      <p:sp>
        <p:nvSpPr>
          <p:cNvPr id="21" name="Text 18"/>
          <p:cNvSpPr txBox="1"/>
          <p:nvPr/>
        </p:nvSpPr>
        <p:spPr>
          <a:xfrm>
            <a:off x="5623560" y="2551176"/>
            <a:ext cx="2834640" cy="228600"/>
          </a:xfrm>
          <a:prstGeom prst="rect">
            <a:avLst/>
          </a:prstGeom>
          <a:noFill/>
          <a:ln/>
        </p:spPr>
        <p:txBody>
          <a:bodyPr wrap="square" lIns="0" tIns="0" rIns="0" bIns="0" rtlCol="0" anchor="t"/>
          <a:lstStyle/>
          <a:p>
            <a:pPr indent="0" marL="0">
              <a:buNone/>
            </a:pPr>
            <a:r>
              <a:rPr lang="en-US" sz="1200" dirty="0">
                <a:solidFill>
                  <a:schemeClr val="accent6"/>
                </a:solidFill>
              </a:rPr>
              <a:t>API and SSE client</a:t>
            </a:r>
            <a:endParaRPr lang="en-US" sz="1200" dirty="0"/>
          </a:p>
        </p:txBody>
      </p:sp>
      <p:sp>
        <p:nvSpPr>
          <p:cNvPr id="22" name="Text 19"/>
          <p:cNvSpPr txBox="1"/>
          <p:nvPr/>
        </p:nvSpPr>
        <p:spPr>
          <a:xfrm>
            <a:off x="5623560" y="2825496"/>
            <a:ext cx="2834640" cy="24688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app.js</a:t>
            </a:r>
            <a:endParaRPr lang="en-US" sz="1300" dirty="0"/>
          </a:p>
        </p:txBody>
      </p:sp>
      <p:sp>
        <p:nvSpPr>
          <p:cNvPr id="23" name="Text 20"/>
          <p:cNvSpPr txBox="1"/>
          <p:nvPr/>
        </p:nvSpPr>
        <p:spPr>
          <a:xfrm>
            <a:off x="5623560" y="3072384"/>
            <a:ext cx="2834640" cy="228600"/>
          </a:xfrm>
          <a:prstGeom prst="rect">
            <a:avLst/>
          </a:prstGeom>
          <a:noFill/>
          <a:ln/>
        </p:spPr>
        <p:txBody>
          <a:bodyPr wrap="square" lIns="0" tIns="0" rIns="0" bIns="0" rtlCol="0" anchor="t"/>
          <a:lstStyle/>
          <a:p>
            <a:pPr indent="0" marL="0">
              <a:buNone/>
            </a:pPr>
            <a:r>
              <a:rPr lang="en-US" sz="1200" dirty="0">
                <a:solidFill>
                  <a:schemeClr val="accent6"/>
                </a:solidFill>
              </a:rPr>
              <a:t>Dashboard and visuals</a:t>
            </a:r>
            <a:endParaRPr lang="en-US" sz="1200" dirty="0"/>
          </a:p>
        </p:txBody>
      </p:sp>
      <p:sp>
        <p:nvSpPr>
          <p:cNvPr id="24" name="Text 21"/>
          <p:cNvSpPr txBox="1"/>
          <p:nvPr/>
        </p:nvSpPr>
        <p:spPr>
          <a:xfrm>
            <a:off x="5623560" y="3346704"/>
            <a:ext cx="2834640" cy="24688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quantum_engine.js</a:t>
            </a:r>
            <a:endParaRPr lang="en-US" sz="1300" dirty="0"/>
          </a:p>
        </p:txBody>
      </p:sp>
      <p:sp>
        <p:nvSpPr>
          <p:cNvPr id="25" name="Text 22"/>
          <p:cNvSpPr txBox="1"/>
          <p:nvPr/>
        </p:nvSpPr>
        <p:spPr>
          <a:xfrm>
            <a:off x="5623560" y="3593592"/>
            <a:ext cx="2834640" cy="228600"/>
          </a:xfrm>
          <a:prstGeom prst="rect">
            <a:avLst/>
          </a:prstGeom>
          <a:noFill/>
          <a:ln/>
        </p:spPr>
        <p:txBody>
          <a:bodyPr wrap="square" lIns="0" tIns="0" rIns="0" bIns="0" rtlCol="0" anchor="t"/>
          <a:lstStyle/>
          <a:p>
            <a:pPr indent="0" marL="0">
              <a:buNone/>
            </a:pPr>
            <a:r>
              <a:rPr lang="en-US" sz="1200" dirty="0">
                <a:solidFill>
                  <a:schemeClr val="accent6"/>
                </a:solidFill>
              </a:rPr>
              <a:t>Educational simulator</a:t>
            </a:r>
            <a:endParaRPr lang="en-US" sz="1200" dirty="0"/>
          </a:p>
        </p:txBody>
      </p:sp>
      <p:sp>
        <p:nvSpPr>
          <p:cNvPr id="26" name="Text 23"/>
          <p:cNvSpPr txBox="1"/>
          <p:nvPr/>
        </p:nvSpPr>
        <p:spPr>
          <a:xfrm>
            <a:off x="5623560" y="3867912"/>
            <a:ext cx="2834640" cy="246888"/>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state.js</a:t>
            </a:r>
            <a:endParaRPr lang="en-US" sz="1300" dirty="0"/>
          </a:p>
        </p:txBody>
      </p:sp>
      <p:sp>
        <p:nvSpPr>
          <p:cNvPr id="27" name="Text 24"/>
          <p:cNvSpPr txBox="1"/>
          <p:nvPr/>
        </p:nvSpPr>
        <p:spPr>
          <a:xfrm>
            <a:off x="5623560" y="4114800"/>
            <a:ext cx="2834640" cy="228600"/>
          </a:xfrm>
          <a:prstGeom prst="rect">
            <a:avLst/>
          </a:prstGeom>
          <a:noFill/>
          <a:ln/>
        </p:spPr>
        <p:txBody>
          <a:bodyPr wrap="square" lIns="0" tIns="0" rIns="0" bIns="0" rtlCol="0" anchor="t"/>
          <a:lstStyle/>
          <a:p>
            <a:pPr indent="0" marL="0">
              <a:buNone/>
            </a:pPr>
            <a:r>
              <a:rPr lang="en-US" sz="1200" dirty="0">
                <a:solidFill>
                  <a:schemeClr val="accent6"/>
                </a:solidFill>
              </a:rPr>
              <a:t>UI state store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Who can see and do what</a:t>
            </a:r>
            <a:endParaRPr lang="en-US" sz="3200" dirty="0"/>
          </a:p>
        </p:txBody>
      </p:sp>
      <p:sp>
        <p:nvSpPr>
          <p:cNvPr id="4" name="Stat PBKDF2"/>
          <p:cNvSpPr/>
          <p:nvPr/>
        </p:nvSpPr>
        <p:spPr>
          <a:xfrm>
            <a:off x="457200" y="1280160"/>
            <a:ext cx="2377440" cy="1463040"/>
          </a:xfrm>
          <a:prstGeom prst="roundRect">
            <a:avLst>
              <a:gd name="adj" fmla="val 6250"/>
            </a:avLst>
          </a:prstGeom>
          <a:solidFill>
            <a:schemeClr val="tx2"/>
          </a:solidFill>
          <a:ln w="12700">
            <a:solidFill>
              <a:schemeClr val="tx2"/>
            </a:solidFill>
            <a:prstDash val="solid"/>
          </a:ln>
        </p:spPr>
      </p:sp>
      <p:sp>
        <p:nvSpPr>
          <p:cNvPr id="5" name="Text 2"/>
          <p:cNvSpPr txBox="1"/>
          <p:nvPr/>
        </p:nvSpPr>
        <p:spPr>
          <a:xfrm>
            <a:off x="640080" y="1371600"/>
            <a:ext cx="2011680" cy="73152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600K</a:t>
            </a:r>
            <a:endParaRPr lang="en-US" sz="3800" dirty="0"/>
          </a:p>
        </p:txBody>
      </p:sp>
      <p:sp>
        <p:nvSpPr>
          <p:cNvPr id="6" name="Text 3"/>
          <p:cNvSpPr txBox="1"/>
          <p:nvPr/>
        </p:nvSpPr>
        <p:spPr>
          <a:xfrm>
            <a:off x="640080" y="2148840"/>
            <a:ext cx="2011680" cy="502920"/>
          </a:xfrm>
          <a:prstGeom prst="rect">
            <a:avLst/>
          </a:prstGeom>
          <a:noFill/>
          <a:ln/>
        </p:spPr>
        <p:txBody>
          <a:bodyPr wrap="square" lIns="0" tIns="0" rIns="0" bIns="0" rtlCol="0" anchor="t"/>
          <a:lstStyle/>
          <a:p>
            <a:pPr indent="0" marL="0">
              <a:buNone/>
            </a:pPr>
            <a:r>
              <a:rPr lang="en-US" sz="1300" dirty="0">
                <a:solidFill>
                  <a:schemeClr val="bg2"/>
                </a:solidFill>
              </a:rPr>
              <a:t>PBKDF2 iterations per password</a:t>
            </a:r>
            <a:endParaRPr lang="en-US" sz="1300" dirty="0"/>
          </a:p>
        </p:txBody>
      </p:sp>
      <p:sp>
        <p:nvSpPr>
          <p:cNvPr id="7" name="Stat JWT"/>
          <p:cNvSpPr/>
          <p:nvPr/>
        </p:nvSpPr>
        <p:spPr>
          <a:xfrm>
            <a:off x="457200" y="2926080"/>
            <a:ext cx="2377440" cy="1463040"/>
          </a:xfrm>
          <a:prstGeom prst="roundRect">
            <a:avLst>
              <a:gd name="adj" fmla="val 6250"/>
            </a:avLst>
          </a:prstGeom>
          <a:solidFill>
            <a:schemeClr val="tx2"/>
          </a:solidFill>
          <a:ln w="12700">
            <a:solidFill>
              <a:schemeClr val="tx2"/>
            </a:solidFill>
            <a:prstDash val="solid"/>
          </a:ln>
        </p:spPr>
      </p:sp>
      <p:sp>
        <p:nvSpPr>
          <p:cNvPr id="8" name="Text 5"/>
          <p:cNvSpPr txBox="1"/>
          <p:nvPr/>
        </p:nvSpPr>
        <p:spPr>
          <a:xfrm>
            <a:off x="640080" y="3017520"/>
            <a:ext cx="2011680" cy="73152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JWT</a:t>
            </a:r>
            <a:endParaRPr lang="en-US" sz="3800" dirty="0"/>
          </a:p>
        </p:txBody>
      </p:sp>
      <p:sp>
        <p:nvSpPr>
          <p:cNvPr id="9" name="Text 6"/>
          <p:cNvSpPr txBox="1"/>
          <p:nvPr/>
        </p:nvSpPr>
        <p:spPr>
          <a:xfrm>
            <a:off x="640080" y="3794760"/>
            <a:ext cx="2011680" cy="502920"/>
          </a:xfrm>
          <a:prstGeom prst="rect">
            <a:avLst/>
          </a:prstGeom>
          <a:noFill/>
          <a:ln/>
        </p:spPr>
        <p:txBody>
          <a:bodyPr wrap="square" lIns="0" tIns="0" rIns="0" bIns="0" rtlCol="0" anchor="t"/>
          <a:lstStyle/>
          <a:p>
            <a:pPr indent="0" marL="0">
              <a:buNone/>
            </a:pPr>
            <a:r>
              <a:rPr lang="en-US" sz="1300" dirty="0">
                <a:solidFill>
                  <a:schemeClr val="bg2"/>
                </a:solidFill>
              </a:rPr>
              <a:t>Signed tokens for every session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108960" y="1280160"/>
          <a:ext cx="5577840" cy="914400"/>
        </p:xfrm>
        <a:graphic>
          <a:graphicData uri="http://schemas.openxmlformats.org/drawingml/2006/table">
            <a:tbl>
              <a:tblPr/>
              <a:tblGrid>
                <a:gridCol w="1188720"/>
                <a:gridCol w="4389120"/>
              </a:tblGrid>
              <a:tr h="411480">
                <a:tc>
                  <a:txBody>
                    <a:bodyPr/>
                    <a:lstStyle/>
                    <a:p>
                      <a:pPr indent="0" marL="0">
                        <a:buNone/>
                      </a:pPr>
                      <a:r>
                        <a:rPr lang="en-US" sz="1400" b="1" dirty="0">
                          <a:solidFill>
                            <a:srgbClr val="FFFFFF"/>
                          </a:solidFill>
                        </a:rPr>
                        <a:t>Role</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0B1220"/>
                    </a:solidFill>
                  </a:tcPr>
                </a:tc>
                <a:tc>
                  <a:txBody>
                    <a:bodyPr/>
                    <a:lstStyle/>
                    <a:p>
                      <a:pPr indent="0" marL="0">
                        <a:buNone/>
                      </a:pPr>
                      <a:r>
                        <a:rPr lang="en-US" sz="1400" b="1" dirty="0">
                          <a:solidFill>
                            <a:srgbClr val="FFFFFF"/>
                          </a:solidFill>
                        </a:rPr>
                        <a:t>What they can do</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0B1220"/>
                    </a:solidFill>
                  </a:tcPr>
                </a:tc>
              </a:tr>
              <a:tr h="822960">
                <a:tc>
                  <a:txBody>
                    <a:bodyPr/>
                    <a:lstStyle/>
                    <a:p>
                      <a:pPr indent="0" marL="0">
                        <a:buNone/>
                      </a:pPr>
                      <a:r>
                        <a:rPr lang="en-US" sz="1400" b="1" dirty="0">
                          <a:solidFill>
                            <a:srgbClr val="0B1220"/>
                          </a:solidFill>
                        </a:rPr>
                        <a:t>Viewer</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Read overview, events, incidents and decoys; export sanitized reports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r>
              <a:tr h="1005840">
                <a:tc>
                  <a:txBody>
                    <a:bodyPr/>
                    <a:lstStyle/>
                    <a:p>
                      <a:pPr indent="0" marL="0">
                        <a:buNone/>
                      </a:pPr>
                      <a:r>
                        <a:rPr lang="en-US" sz="1400" b="1" dirty="0">
                          <a:solidFill>
                            <a:srgbClr val="0B1220"/>
                          </a:solidFill>
                        </a:rPr>
                        <a:t>Analyst</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Everything a viewer can, plus update incident status, run breach drills and reset demo runs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B1220"/>
                          </a:solidFill>
                        </a:rPr>
                        <a:t>Admin</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Full access; first account is created from environment settings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Qubits, circuits and Bell's test</a:t>
            </a:r>
            <a:endParaRPr lang="en-US" sz="3200" dirty="0"/>
          </a:p>
        </p:txBody>
      </p:sp>
      <p:sp>
        <p:nvSpPr>
          <p:cNvPr id="4" name="Badge 1"/>
          <p:cNvSpPr/>
          <p:nvPr/>
        </p:nvSpPr>
        <p:spPr>
          <a:xfrm>
            <a:off x="457200" y="1188720"/>
            <a:ext cx="457200" cy="457200"/>
          </a:xfrm>
          <a:prstGeom prst="ellipse">
            <a:avLst/>
          </a:prstGeom>
          <a:solidFill>
            <a:schemeClr val="accent3"/>
          </a:solidFill>
          <a:ln/>
        </p:spPr>
      </p:sp>
      <p:sp>
        <p:nvSpPr>
          <p:cNvPr id="5"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188720"/>
            <a:ext cx="4114800" cy="274320"/>
          </a:xfrm>
          <a:prstGeom prst="rect">
            <a:avLst/>
          </a:prstGeom>
          <a:noFill/>
          <a:ln/>
        </p:spPr>
        <p:txBody>
          <a:bodyPr wrap="square" lIns="0" tIns="0" rIns="0" bIns="0" rtlCol="0" anchor="t"/>
          <a:lstStyle/>
          <a:p>
            <a:pPr indent="0" marL="0">
              <a:buNone/>
            </a:pPr>
            <a:r>
              <a:rPr lang="en-US" sz="1600" b="1" dirty="0">
                <a:solidFill>
                  <a:schemeClr val="tx1"/>
                </a:solidFill>
              </a:rPr>
              <a:t>Bloch sphere engine</a:t>
            </a:r>
            <a:endParaRPr lang="en-US" sz="1600" dirty="0"/>
          </a:p>
        </p:txBody>
      </p:sp>
      <p:sp>
        <p:nvSpPr>
          <p:cNvPr id="7" name="Text 4"/>
          <p:cNvSpPr txBox="1"/>
          <p:nvPr/>
        </p:nvSpPr>
        <p:spPr>
          <a:xfrm>
            <a:off x="1097280" y="1490472"/>
            <a:ext cx="4114800" cy="457200"/>
          </a:xfrm>
          <a:prstGeom prst="rect">
            <a:avLst/>
          </a:prstGeom>
          <a:noFill/>
          <a:ln/>
        </p:spPr>
        <p:txBody>
          <a:bodyPr wrap="square" lIns="0" tIns="0" rIns="0" bIns="0" rtlCol="0" anchor="t"/>
          <a:lstStyle/>
          <a:p>
            <a:pPr indent="0" marL="0">
              <a:buNone/>
            </a:pPr>
            <a:r>
              <a:rPr lang="en-US" sz="1400" dirty="0">
                <a:solidFill>
                  <a:schemeClr val="accent6"/>
                </a:solidFill>
              </a:rPr>
              <a:t>Single-qubit density matrices with H, X, Y, Z, S and T gates.</a:t>
            </a:r>
            <a:endParaRPr lang="en-US" sz="1400" dirty="0"/>
          </a:p>
        </p:txBody>
      </p:sp>
      <p:sp>
        <p:nvSpPr>
          <p:cNvPr id="8" name="Badge 2"/>
          <p:cNvSpPr/>
          <p:nvPr/>
        </p:nvSpPr>
        <p:spPr>
          <a:xfrm>
            <a:off x="457200" y="2331720"/>
            <a:ext cx="457200" cy="457200"/>
          </a:xfrm>
          <a:prstGeom prst="ellipse">
            <a:avLst/>
          </a:prstGeom>
          <a:solidFill>
            <a:schemeClr val="accent1"/>
          </a:solidFill>
          <a:ln/>
        </p:spPr>
      </p:sp>
      <p:sp>
        <p:nvSpPr>
          <p:cNvPr id="9" name="Text 6"/>
          <p:cNvSpPr txBox="1"/>
          <p:nvPr/>
        </p:nvSpPr>
        <p:spPr>
          <a:xfrm>
            <a:off x="457200" y="2331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331720"/>
            <a:ext cx="4114800" cy="274320"/>
          </a:xfrm>
          <a:prstGeom prst="rect">
            <a:avLst/>
          </a:prstGeom>
          <a:noFill/>
          <a:ln/>
        </p:spPr>
        <p:txBody>
          <a:bodyPr wrap="square" lIns="0" tIns="0" rIns="0" bIns="0" rtlCol="0" anchor="t"/>
          <a:lstStyle/>
          <a:p>
            <a:pPr indent="0" marL="0">
              <a:buNone/>
            </a:pPr>
            <a:r>
              <a:rPr lang="en-US" sz="1600" b="1" dirty="0">
                <a:solidFill>
                  <a:schemeClr val="tx1"/>
                </a:solidFill>
              </a:rPr>
              <a:t>Circuit simulator</a:t>
            </a:r>
            <a:endParaRPr lang="en-US" sz="1600" dirty="0"/>
          </a:p>
        </p:txBody>
      </p:sp>
      <p:sp>
        <p:nvSpPr>
          <p:cNvPr id="11" name="Text 8"/>
          <p:cNvSpPr txBox="1"/>
          <p:nvPr/>
        </p:nvSpPr>
        <p:spPr>
          <a:xfrm>
            <a:off x="1097280" y="2633472"/>
            <a:ext cx="4114800" cy="457200"/>
          </a:xfrm>
          <a:prstGeom prst="rect">
            <a:avLst/>
          </a:prstGeom>
          <a:noFill/>
          <a:ln/>
        </p:spPr>
        <p:txBody>
          <a:bodyPr wrap="square" lIns="0" tIns="0" rIns="0" bIns="0" rtlCol="0" anchor="t"/>
          <a:lstStyle/>
          <a:p>
            <a:pPr indent="0" marL="0">
              <a:buNone/>
            </a:pPr>
            <a:r>
              <a:rPr lang="en-US" sz="1400" dirty="0">
                <a:solidFill>
                  <a:schemeClr val="accent6"/>
                </a:solidFill>
              </a:rPr>
              <a:t>1 to 8 qubits, CNOT entangling and shot sampling.</a:t>
            </a:r>
            <a:endParaRPr lang="en-US" sz="1400" dirty="0"/>
          </a:p>
        </p:txBody>
      </p:sp>
      <p:sp>
        <p:nvSpPr>
          <p:cNvPr id="12" name="Badge 3"/>
          <p:cNvSpPr/>
          <p:nvPr/>
        </p:nvSpPr>
        <p:spPr>
          <a:xfrm>
            <a:off x="457200" y="3474720"/>
            <a:ext cx="457200" cy="457200"/>
          </a:xfrm>
          <a:prstGeom prst="ellipse">
            <a:avLst/>
          </a:prstGeom>
          <a:solidFill>
            <a:schemeClr val="accent2"/>
          </a:solidFill>
          <a:ln/>
        </p:spPr>
      </p:sp>
      <p:sp>
        <p:nvSpPr>
          <p:cNvPr id="13" name="Text 10"/>
          <p:cNvSpPr txBox="1"/>
          <p:nvPr/>
        </p:nvSpPr>
        <p:spPr>
          <a:xfrm>
            <a:off x="45720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3474720"/>
            <a:ext cx="4114800" cy="274320"/>
          </a:xfrm>
          <a:prstGeom prst="rect">
            <a:avLst/>
          </a:prstGeom>
          <a:noFill/>
          <a:ln/>
        </p:spPr>
        <p:txBody>
          <a:bodyPr wrap="square" lIns="0" tIns="0" rIns="0" bIns="0" rtlCol="0" anchor="t"/>
          <a:lstStyle/>
          <a:p>
            <a:pPr indent="0" marL="0">
              <a:buNone/>
            </a:pPr>
            <a:r>
              <a:rPr lang="en-US" sz="1600" b="1" dirty="0">
                <a:solidFill>
                  <a:schemeClr val="tx1"/>
                </a:solidFill>
              </a:rPr>
              <a:t>No-cloning check</a:t>
            </a:r>
            <a:endParaRPr lang="en-US" sz="1600" dirty="0"/>
          </a:p>
        </p:txBody>
      </p:sp>
      <p:sp>
        <p:nvSpPr>
          <p:cNvPr id="15" name="Text 12"/>
          <p:cNvSpPr txBox="1"/>
          <p:nvPr/>
        </p:nvSpPr>
        <p:spPr>
          <a:xfrm>
            <a:off x="1097280" y="3776472"/>
            <a:ext cx="4114800" cy="457200"/>
          </a:xfrm>
          <a:prstGeom prst="rect">
            <a:avLst/>
          </a:prstGeom>
          <a:noFill/>
          <a:ln/>
        </p:spPr>
        <p:txBody>
          <a:bodyPr wrap="square" lIns="0" tIns="0" rIns="0" bIns="0" rtlCol="0" anchor="t"/>
          <a:lstStyle/>
          <a:p>
            <a:pPr indent="0" marL="0">
              <a:buNone/>
            </a:pPr>
            <a:r>
              <a:rPr lang="en-US" sz="1400" dirty="0">
                <a:solidFill>
                  <a:schemeClr val="accent6"/>
                </a:solidFill>
              </a:rPr>
              <a:t>Compared with the Buzek-Hillery universal bound.</a:t>
            </a:r>
            <a:endParaRPr lang="en-US" sz="1400" dirty="0"/>
          </a:p>
        </p:txBody>
      </p:sp>
      <p:sp>
        <p:nvSpPr>
          <p:cNvPr id="16" name="Stat 2.8284"/>
          <p:cNvSpPr/>
          <p:nvPr/>
        </p:nvSpPr>
        <p:spPr>
          <a:xfrm>
            <a:off x="5577840" y="1188720"/>
            <a:ext cx="3108960" cy="1554480"/>
          </a:xfrm>
          <a:prstGeom prst="roundRect">
            <a:avLst>
              <a:gd name="adj" fmla="val 5882"/>
            </a:avLst>
          </a:prstGeom>
          <a:solidFill>
            <a:schemeClr val="tx2"/>
          </a:solidFill>
          <a:ln w="12700">
            <a:solidFill>
              <a:schemeClr val="tx2"/>
            </a:solidFill>
            <a:prstDash val="solid"/>
          </a:ln>
        </p:spPr>
      </p:sp>
      <p:sp>
        <p:nvSpPr>
          <p:cNvPr id="17" name="Text 14"/>
          <p:cNvSpPr txBox="1"/>
          <p:nvPr/>
        </p:nvSpPr>
        <p:spPr>
          <a:xfrm>
            <a:off x="5806440" y="1325880"/>
            <a:ext cx="2651760" cy="73152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2.8284</a:t>
            </a:r>
            <a:endParaRPr lang="en-US" sz="3800" dirty="0"/>
          </a:p>
        </p:txBody>
      </p:sp>
      <p:sp>
        <p:nvSpPr>
          <p:cNvPr id="18" name="Text 15"/>
          <p:cNvSpPr txBox="1"/>
          <p:nvPr/>
        </p:nvSpPr>
        <p:spPr>
          <a:xfrm>
            <a:off x="5806440" y="2103120"/>
            <a:ext cx="2651760" cy="548640"/>
          </a:xfrm>
          <a:prstGeom prst="rect">
            <a:avLst/>
          </a:prstGeom>
          <a:noFill/>
          <a:ln/>
        </p:spPr>
        <p:txBody>
          <a:bodyPr wrap="square" lIns="0" tIns="0" rIns="0" bIns="0" rtlCol="0" anchor="t"/>
          <a:lstStyle/>
          <a:p>
            <a:pPr indent="0" marL="0">
              <a:buNone/>
            </a:pPr>
            <a:r>
              <a:rPr lang="en-US" sz="1300" dirty="0">
                <a:solidFill>
                  <a:schemeClr val="bg2"/>
                </a:solidFill>
              </a:rPr>
              <a:t>Bell-CHSH value S, above the classical limit of 2</a:t>
            </a:r>
            <a:endParaRPr lang="en-US" sz="1300" dirty="0"/>
          </a:p>
        </p:txBody>
      </p:sp>
      <p:sp>
        <p:nvSpPr>
          <p:cNvPr id="19" name="Stat 0.8333"/>
          <p:cNvSpPr/>
          <p:nvPr/>
        </p:nvSpPr>
        <p:spPr>
          <a:xfrm>
            <a:off x="5577840" y="2926080"/>
            <a:ext cx="3108960" cy="1554480"/>
          </a:xfrm>
          <a:prstGeom prst="roundRect">
            <a:avLst>
              <a:gd name="adj" fmla="val 5882"/>
            </a:avLst>
          </a:prstGeom>
          <a:solidFill>
            <a:schemeClr val="tx2"/>
          </a:solidFill>
          <a:ln w="12700">
            <a:solidFill>
              <a:schemeClr val="tx2"/>
            </a:solidFill>
            <a:prstDash val="solid"/>
          </a:ln>
        </p:spPr>
      </p:sp>
      <p:sp>
        <p:nvSpPr>
          <p:cNvPr id="20" name="Text 17"/>
          <p:cNvSpPr txBox="1"/>
          <p:nvPr/>
        </p:nvSpPr>
        <p:spPr>
          <a:xfrm>
            <a:off x="5806440" y="3063240"/>
            <a:ext cx="2651760" cy="73152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0.8333</a:t>
            </a:r>
            <a:endParaRPr lang="en-US" sz="3800" dirty="0"/>
          </a:p>
        </p:txBody>
      </p:sp>
      <p:sp>
        <p:nvSpPr>
          <p:cNvPr id="21" name="Text 18"/>
          <p:cNvSpPr txBox="1"/>
          <p:nvPr/>
        </p:nvSpPr>
        <p:spPr>
          <a:xfrm>
            <a:off x="5806440" y="3840480"/>
            <a:ext cx="2651760" cy="548640"/>
          </a:xfrm>
          <a:prstGeom prst="rect">
            <a:avLst/>
          </a:prstGeom>
          <a:noFill/>
          <a:ln/>
        </p:spPr>
        <p:txBody>
          <a:bodyPr wrap="square" lIns="0" tIns="0" rIns="0" bIns="0" rtlCol="0" anchor="t"/>
          <a:lstStyle/>
          <a:p>
            <a:pPr indent="0" marL="0">
              <a:buNone/>
            </a:pPr>
            <a:r>
              <a:rPr lang="en-US" sz="1300" dirty="0">
                <a:solidFill>
                  <a:schemeClr val="bg2"/>
                </a:solidFill>
              </a:rPr>
              <a:t>Cloning fidelity ceiling, which is 5/6</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BB84 and Grover, step by step</a:t>
            </a:r>
            <a:endParaRPr lang="en-US" sz="3200" dirty="0"/>
          </a:p>
        </p:txBody>
      </p:sp>
      <p:sp>
        <p:nvSpPr>
          <p:cNvPr id="4" name="BB84 Alice"/>
          <p:cNvSpPr/>
          <p:nvPr/>
        </p:nvSpPr>
        <p:spPr>
          <a:xfrm>
            <a:off x="457200" y="1188720"/>
            <a:ext cx="1481328" cy="1463040"/>
          </a:xfrm>
          <a:prstGeom prst="roundRect">
            <a:avLst>
              <a:gd name="adj" fmla="val 6250"/>
            </a:avLst>
          </a:prstGeom>
          <a:solidFill>
            <a:schemeClr val="bg1"/>
          </a:solidFill>
          <a:ln w="12700">
            <a:solidFill>
              <a:schemeClr val="bg2"/>
            </a:solidFill>
            <a:prstDash val="solid"/>
          </a:ln>
        </p:spPr>
      </p:sp>
      <p:sp>
        <p:nvSpPr>
          <p:cNvPr id="5" name="Badge 1"/>
          <p:cNvSpPr/>
          <p:nvPr/>
        </p:nvSpPr>
        <p:spPr>
          <a:xfrm>
            <a:off x="548640" y="1298448"/>
            <a:ext cx="365760" cy="365760"/>
          </a:xfrm>
          <a:prstGeom prst="ellipse">
            <a:avLst/>
          </a:prstGeom>
          <a:solidFill>
            <a:schemeClr val="accent1"/>
          </a:solidFill>
          <a:ln/>
        </p:spPr>
      </p:sp>
      <p:sp>
        <p:nvSpPr>
          <p:cNvPr id="6" name="Text 3"/>
          <p:cNvSpPr txBox="1"/>
          <p:nvPr/>
        </p:nvSpPr>
        <p:spPr>
          <a:xfrm>
            <a:off x="548640"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548640" y="1755648"/>
            <a:ext cx="1298448" cy="274320"/>
          </a:xfrm>
          <a:prstGeom prst="rect">
            <a:avLst/>
          </a:prstGeom>
          <a:noFill/>
          <a:ln/>
        </p:spPr>
        <p:txBody>
          <a:bodyPr wrap="square" lIns="0" tIns="0" rIns="0" bIns="0" rtlCol="0" anchor="t"/>
          <a:lstStyle/>
          <a:p>
            <a:pPr indent="0" marL="0">
              <a:buNone/>
            </a:pPr>
            <a:r>
              <a:rPr lang="en-US" sz="1500" b="1" dirty="0">
                <a:solidFill>
                  <a:schemeClr val="tx1"/>
                </a:solidFill>
              </a:rPr>
              <a:t>Alice</a:t>
            </a:r>
            <a:endParaRPr lang="en-US" sz="1500" dirty="0"/>
          </a:p>
        </p:txBody>
      </p:sp>
      <p:sp>
        <p:nvSpPr>
          <p:cNvPr id="8" name="Text 5"/>
          <p:cNvSpPr txBox="1"/>
          <p:nvPr/>
        </p:nvSpPr>
        <p:spPr>
          <a:xfrm>
            <a:off x="548640" y="2057400"/>
            <a:ext cx="1298448" cy="548640"/>
          </a:xfrm>
          <a:prstGeom prst="rect">
            <a:avLst/>
          </a:prstGeom>
          <a:noFill/>
          <a:ln/>
        </p:spPr>
        <p:txBody>
          <a:bodyPr wrap="square" lIns="0" tIns="0" rIns="0" bIns="0" rtlCol="0" anchor="t"/>
          <a:lstStyle/>
          <a:p>
            <a:pPr indent="0" marL="0">
              <a:buNone/>
            </a:pPr>
            <a:r>
              <a:rPr lang="en-US" sz="1200" dirty="0">
                <a:solidFill>
                  <a:schemeClr val="accent6"/>
                </a:solidFill>
              </a:rPr>
              <a:t>Prepares bits and bases</a:t>
            </a:r>
            <a:endParaRPr lang="en-US" sz="1200" dirty="0"/>
          </a:p>
        </p:txBody>
      </p:sp>
      <p:sp>
        <p:nvSpPr>
          <p:cNvPr id="9" name="BB84 Eve"/>
          <p:cNvSpPr/>
          <p:nvPr/>
        </p:nvSpPr>
        <p:spPr>
          <a:xfrm>
            <a:off x="2144268" y="1188720"/>
            <a:ext cx="1481328" cy="1463040"/>
          </a:xfrm>
          <a:prstGeom prst="roundRect">
            <a:avLst>
              <a:gd name="adj" fmla="val 6250"/>
            </a:avLst>
          </a:prstGeom>
          <a:solidFill>
            <a:schemeClr val="bg1"/>
          </a:solidFill>
          <a:ln w="12700">
            <a:solidFill>
              <a:schemeClr val="accent5"/>
            </a:solidFill>
            <a:prstDash val="solid"/>
          </a:ln>
        </p:spPr>
      </p:sp>
      <p:sp>
        <p:nvSpPr>
          <p:cNvPr id="10" name="Badge 2"/>
          <p:cNvSpPr/>
          <p:nvPr/>
        </p:nvSpPr>
        <p:spPr>
          <a:xfrm>
            <a:off x="2235708" y="1298448"/>
            <a:ext cx="365760" cy="365760"/>
          </a:xfrm>
          <a:prstGeom prst="ellipse">
            <a:avLst/>
          </a:prstGeom>
          <a:solidFill>
            <a:schemeClr val="accent5"/>
          </a:solidFill>
          <a:ln/>
        </p:spPr>
      </p:sp>
      <p:sp>
        <p:nvSpPr>
          <p:cNvPr id="11" name="Text 8"/>
          <p:cNvSpPr txBox="1"/>
          <p:nvPr/>
        </p:nvSpPr>
        <p:spPr>
          <a:xfrm>
            <a:off x="223570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2235708" y="1755648"/>
            <a:ext cx="1298448" cy="274320"/>
          </a:xfrm>
          <a:prstGeom prst="rect">
            <a:avLst/>
          </a:prstGeom>
          <a:noFill/>
          <a:ln/>
        </p:spPr>
        <p:txBody>
          <a:bodyPr wrap="square" lIns="0" tIns="0" rIns="0" bIns="0" rtlCol="0" anchor="t"/>
          <a:lstStyle/>
          <a:p>
            <a:pPr indent="0" marL="0">
              <a:buNone/>
            </a:pPr>
            <a:r>
              <a:rPr lang="en-US" sz="1500" b="1" dirty="0">
                <a:solidFill>
                  <a:schemeClr val="tx1"/>
                </a:solidFill>
              </a:rPr>
              <a:t>Eve</a:t>
            </a:r>
            <a:endParaRPr lang="en-US" sz="1500" dirty="0"/>
          </a:p>
        </p:txBody>
      </p:sp>
      <p:sp>
        <p:nvSpPr>
          <p:cNvPr id="13" name="Text 10"/>
          <p:cNvSpPr txBox="1"/>
          <p:nvPr/>
        </p:nvSpPr>
        <p:spPr>
          <a:xfrm>
            <a:off x="2235708" y="2057400"/>
            <a:ext cx="1298448" cy="548640"/>
          </a:xfrm>
          <a:prstGeom prst="rect">
            <a:avLst/>
          </a:prstGeom>
          <a:noFill/>
          <a:ln/>
        </p:spPr>
        <p:txBody>
          <a:bodyPr wrap="square" lIns="0" tIns="0" rIns="0" bIns="0" rtlCol="0" anchor="t"/>
          <a:lstStyle/>
          <a:p>
            <a:pPr indent="0" marL="0">
              <a:buNone/>
            </a:pPr>
            <a:r>
              <a:rPr lang="en-US" sz="1200" dirty="0">
                <a:solidFill>
                  <a:schemeClr val="accent6"/>
                </a:solidFill>
              </a:rPr>
              <a:t>Optional intercept-resend</a:t>
            </a:r>
            <a:endParaRPr lang="en-US" sz="1200" dirty="0"/>
          </a:p>
        </p:txBody>
      </p:sp>
      <p:sp>
        <p:nvSpPr>
          <p:cNvPr id="14" name="BB84 Bob"/>
          <p:cNvSpPr/>
          <p:nvPr/>
        </p:nvSpPr>
        <p:spPr>
          <a:xfrm>
            <a:off x="3831336" y="1188720"/>
            <a:ext cx="1481328" cy="1463040"/>
          </a:xfrm>
          <a:prstGeom prst="roundRect">
            <a:avLst>
              <a:gd name="adj" fmla="val 6250"/>
            </a:avLst>
          </a:prstGeom>
          <a:solidFill>
            <a:schemeClr val="bg1"/>
          </a:solidFill>
          <a:ln w="12700">
            <a:solidFill>
              <a:schemeClr val="bg2"/>
            </a:solidFill>
            <a:prstDash val="solid"/>
          </a:ln>
        </p:spPr>
      </p:sp>
      <p:sp>
        <p:nvSpPr>
          <p:cNvPr id="15" name="Badge 3"/>
          <p:cNvSpPr/>
          <p:nvPr/>
        </p:nvSpPr>
        <p:spPr>
          <a:xfrm>
            <a:off x="3922776" y="1298448"/>
            <a:ext cx="365760" cy="365760"/>
          </a:xfrm>
          <a:prstGeom prst="ellipse">
            <a:avLst/>
          </a:prstGeom>
          <a:solidFill>
            <a:schemeClr val="accent1"/>
          </a:solidFill>
          <a:ln/>
        </p:spPr>
      </p:sp>
      <p:sp>
        <p:nvSpPr>
          <p:cNvPr id="16" name="Text 13"/>
          <p:cNvSpPr txBox="1"/>
          <p:nvPr/>
        </p:nvSpPr>
        <p:spPr>
          <a:xfrm>
            <a:off x="3922776"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3922776" y="1755648"/>
            <a:ext cx="1298448" cy="274320"/>
          </a:xfrm>
          <a:prstGeom prst="rect">
            <a:avLst/>
          </a:prstGeom>
          <a:noFill/>
          <a:ln/>
        </p:spPr>
        <p:txBody>
          <a:bodyPr wrap="square" lIns="0" tIns="0" rIns="0" bIns="0" rtlCol="0" anchor="t"/>
          <a:lstStyle/>
          <a:p>
            <a:pPr indent="0" marL="0">
              <a:buNone/>
            </a:pPr>
            <a:r>
              <a:rPr lang="en-US" sz="1500" b="1" dirty="0">
                <a:solidFill>
                  <a:schemeClr val="tx1"/>
                </a:solidFill>
              </a:rPr>
              <a:t>Bob</a:t>
            </a:r>
            <a:endParaRPr lang="en-US" sz="1500" dirty="0"/>
          </a:p>
        </p:txBody>
      </p:sp>
      <p:sp>
        <p:nvSpPr>
          <p:cNvPr id="18" name="Text 15"/>
          <p:cNvSpPr txBox="1"/>
          <p:nvPr/>
        </p:nvSpPr>
        <p:spPr>
          <a:xfrm>
            <a:off x="3922776" y="2057400"/>
            <a:ext cx="1298448" cy="548640"/>
          </a:xfrm>
          <a:prstGeom prst="rect">
            <a:avLst/>
          </a:prstGeom>
          <a:noFill/>
          <a:ln/>
        </p:spPr>
        <p:txBody>
          <a:bodyPr wrap="square" lIns="0" tIns="0" rIns="0" bIns="0" rtlCol="0" anchor="t"/>
          <a:lstStyle/>
          <a:p>
            <a:pPr indent="0" marL="0">
              <a:buNone/>
            </a:pPr>
            <a:r>
              <a:rPr lang="en-US" sz="1200" dirty="0">
                <a:solidFill>
                  <a:schemeClr val="accent6"/>
                </a:solidFill>
              </a:rPr>
              <a:t>Measures in random bases</a:t>
            </a:r>
            <a:endParaRPr lang="en-US" sz="1200" dirty="0"/>
          </a:p>
        </p:txBody>
      </p:sp>
      <p:sp>
        <p:nvSpPr>
          <p:cNvPr id="19" name="BB84 Sifting"/>
          <p:cNvSpPr/>
          <p:nvPr/>
        </p:nvSpPr>
        <p:spPr>
          <a:xfrm>
            <a:off x="5518404" y="1188720"/>
            <a:ext cx="1481328" cy="1463040"/>
          </a:xfrm>
          <a:prstGeom prst="roundRect">
            <a:avLst>
              <a:gd name="adj" fmla="val 6250"/>
            </a:avLst>
          </a:prstGeom>
          <a:solidFill>
            <a:schemeClr val="bg1"/>
          </a:solidFill>
          <a:ln w="12700">
            <a:solidFill>
              <a:schemeClr val="bg2"/>
            </a:solidFill>
            <a:prstDash val="solid"/>
          </a:ln>
        </p:spPr>
      </p:sp>
      <p:sp>
        <p:nvSpPr>
          <p:cNvPr id="20" name="Badge 4"/>
          <p:cNvSpPr/>
          <p:nvPr/>
        </p:nvSpPr>
        <p:spPr>
          <a:xfrm>
            <a:off x="5609844" y="1298448"/>
            <a:ext cx="365760" cy="365760"/>
          </a:xfrm>
          <a:prstGeom prst="ellipse">
            <a:avLst/>
          </a:prstGeom>
          <a:solidFill>
            <a:schemeClr val="accent1"/>
          </a:solidFill>
          <a:ln/>
        </p:spPr>
      </p:sp>
      <p:sp>
        <p:nvSpPr>
          <p:cNvPr id="21" name="Text 18"/>
          <p:cNvSpPr txBox="1"/>
          <p:nvPr/>
        </p:nvSpPr>
        <p:spPr>
          <a:xfrm>
            <a:off x="5609844"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5609844" y="1755648"/>
            <a:ext cx="1298448" cy="274320"/>
          </a:xfrm>
          <a:prstGeom prst="rect">
            <a:avLst/>
          </a:prstGeom>
          <a:noFill/>
          <a:ln/>
        </p:spPr>
        <p:txBody>
          <a:bodyPr wrap="square" lIns="0" tIns="0" rIns="0" bIns="0" rtlCol="0" anchor="t"/>
          <a:lstStyle/>
          <a:p>
            <a:pPr indent="0" marL="0">
              <a:buNone/>
            </a:pPr>
            <a:r>
              <a:rPr lang="en-US" sz="1500" b="1" dirty="0">
                <a:solidFill>
                  <a:schemeClr val="tx1"/>
                </a:solidFill>
              </a:rPr>
              <a:t>Sifting</a:t>
            </a:r>
            <a:endParaRPr lang="en-US" sz="1500" dirty="0"/>
          </a:p>
        </p:txBody>
      </p:sp>
      <p:sp>
        <p:nvSpPr>
          <p:cNvPr id="23" name="Text 20"/>
          <p:cNvSpPr txBox="1"/>
          <p:nvPr/>
        </p:nvSpPr>
        <p:spPr>
          <a:xfrm>
            <a:off x="5609844" y="2057400"/>
            <a:ext cx="1298448" cy="548640"/>
          </a:xfrm>
          <a:prstGeom prst="rect">
            <a:avLst/>
          </a:prstGeom>
          <a:noFill/>
          <a:ln/>
        </p:spPr>
        <p:txBody>
          <a:bodyPr wrap="square" lIns="0" tIns="0" rIns="0" bIns="0" rtlCol="0" anchor="t"/>
          <a:lstStyle/>
          <a:p>
            <a:pPr indent="0" marL="0">
              <a:buNone/>
            </a:pPr>
            <a:r>
              <a:rPr lang="en-US" sz="1200" dirty="0">
                <a:solidFill>
                  <a:schemeClr val="accent6"/>
                </a:solidFill>
              </a:rPr>
              <a:t>Keep matching bases</a:t>
            </a:r>
            <a:endParaRPr lang="en-US" sz="1200" dirty="0"/>
          </a:p>
        </p:txBody>
      </p:sp>
      <p:sp>
        <p:nvSpPr>
          <p:cNvPr id="24" name="BB84 QBER"/>
          <p:cNvSpPr/>
          <p:nvPr/>
        </p:nvSpPr>
        <p:spPr>
          <a:xfrm>
            <a:off x="7205472" y="1188720"/>
            <a:ext cx="1481328" cy="1463040"/>
          </a:xfrm>
          <a:prstGeom prst="roundRect">
            <a:avLst>
              <a:gd name="adj" fmla="val 6250"/>
            </a:avLst>
          </a:prstGeom>
          <a:solidFill>
            <a:schemeClr val="bg1"/>
          </a:solidFill>
          <a:ln w="12700">
            <a:solidFill>
              <a:schemeClr val="bg2"/>
            </a:solidFill>
            <a:prstDash val="solid"/>
          </a:ln>
        </p:spPr>
      </p:sp>
      <p:sp>
        <p:nvSpPr>
          <p:cNvPr id="25" name="Badge 5"/>
          <p:cNvSpPr/>
          <p:nvPr/>
        </p:nvSpPr>
        <p:spPr>
          <a:xfrm>
            <a:off x="7296912" y="1298448"/>
            <a:ext cx="365760" cy="365760"/>
          </a:xfrm>
          <a:prstGeom prst="ellipse">
            <a:avLst/>
          </a:prstGeom>
          <a:solidFill>
            <a:schemeClr val="accent1"/>
          </a:solidFill>
          <a:ln/>
        </p:spPr>
      </p:sp>
      <p:sp>
        <p:nvSpPr>
          <p:cNvPr id="26" name="Text 23"/>
          <p:cNvSpPr txBox="1"/>
          <p:nvPr/>
        </p:nvSpPr>
        <p:spPr>
          <a:xfrm>
            <a:off x="7296912"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7296912" y="1755648"/>
            <a:ext cx="1298448" cy="274320"/>
          </a:xfrm>
          <a:prstGeom prst="rect">
            <a:avLst/>
          </a:prstGeom>
          <a:noFill/>
          <a:ln/>
        </p:spPr>
        <p:txBody>
          <a:bodyPr wrap="square" lIns="0" tIns="0" rIns="0" bIns="0" rtlCol="0" anchor="t"/>
          <a:lstStyle/>
          <a:p>
            <a:pPr indent="0" marL="0">
              <a:buNone/>
            </a:pPr>
            <a:r>
              <a:rPr lang="en-US" sz="1500" b="1" dirty="0">
                <a:solidFill>
                  <a:schemeClr val="tx1"/>
                </a:solidFill>
              </a:rPr>
              <a:t>QBER</a:t>
            </a:r>
            <a:endParaRPr lang="en-US" sz="1500" dirty="0"/>
          </a:p>
        </p:txBody>
      </p:sp>
      <p:sp>
        <p:nvSpPr>
          <p:cNvPr id="28" name="Text 25"/>
          <p:cNvSpPr txBox="1"/>
          <p:nvPr/>
        </p:nvSpPr>
        <p:spPr>
          <a:xfrm>
            <a:off x="7296912" y="2057400"/>
            <a:ext cx="1298448" cy="548640"/>
          </a:xfrm>
          <a:prstGeom prst="rect">
            <a:avLst/>
          </a:prstGeom>
          <a:noFill/>
          <a:ln/>
        </p:spPr>
        <p:txBody>
          <a:bodyPr wrap="square" lIns="0" tIns="0" rIns="0" bIns="0" rtlCol="0" anchor="t"/>
          <a:lstStyle/>
          <a:p>
            <a:pPr indent="0" marL="0">
              <a:buNone/>
            </a:pPr>
            <a:r>
              <a:rPr lang="en-US" sz="1200" dirty="0">
                <a:solidFill>
                  <a:schemeClr val="accent6"/>
                </a:solidFill>
              </a:rPr>
              <a:t>Error rate exposes Eve</a:t>
            </a:r>
            <a:endParaRPr lang="en-US" sz="1200" dirty="0"/>
          </a:p>
        </p:txBody>
      </p:sp>
      <p:sp>
        <p:nvSpPr>
          <p:cNvPr id="29" name="Card Grover search"/>
          <p:cNvSpPr/>
          <p:nvPr/>
        </p:nvSpPr>
        <p:spPr>
          <a:xfrm>
            <a:off x="457200" y="2926080"/>
            <a:ext cx="3886200" cy="1600200"/>
          </a:xfrm>
          <a:prstGeom prst="roundRect">
            <a:avLst>
              <a:gd name="adj" fmla="val 5714"/>
            </a:avLst>
          </a:prstGeom>
          <a:solidFill>
            <a:schemeClr val="bg1"/>
          </a:solidFill>
          <a:ln w="12700">
            <a:solidFill>
              <a:schemeClr val="bg2"/>
            </a:solidFill>
            <a:prstDash val="solid"/>
          </a:ln>
        </p:spPr>
      </p:sp>
      <p:sp>
        <p:nvSpPr>
          <p:cNvPr id="30" name="Text 27"/>
          <p:cNvSpPr txBox="1"/>
          <p:nvPr/>
        </p:nvSpPr>
        <p:spPr>
          <a:xfrm>
            <a:off x="731520" y="3108960"/>
            <a:ext cx="3383280" cy="320040"/>
          </a:xfrm>
          <a:prstGeom prst="rect">
            <a:avLst/>
          </a:prstGeom>
          <a:noFill/>
          <a:ln/>
        </p:spPr>
        <p:txBody>
          <a:bodyPr wrap="square" lIns="0" tIns="0" rIns="0" bIns="0" rtlCol="0" anchor="t"/>
          <a:lstStyle/>
          <a:p>
            <a:pPr indent="0" marL="0">
              <a:buNone/>
            </a:pPr>
            <a:r>
              <a:rPr lang="en-US" sz="1700" b="1" dirty="0">
                <a:solidFill>
                  <a:schemeClr val="accent3"/>
                </a:solidFill>
              </a:rPr>
              <a:t>Grover search</a:t>
            </a:r>
            <a:endParaRPr lang="en-US" sz="1700" dirty="0"/>
          </a:p>
        </p:txBody>
      </p:sp>
      <p:sp>
        <p:nvSpPr>
          <p:cNvPr id="31" name="Text 28"/>
          <p:cNvSpPr txBox="1"/>
          <p:nvPr/>
        </p:nvSpPr>
        <p:spPr>
          <a:xfrm>
            <a:off x="731520" y="3520440"/>
            <a:ext cx="3383280" cy="914400"/>
          </a:xfrm>
          <a:prstGeom prst="rect">
            <a:avLst/>
          </a:prstGeom>
          <a:noFill/>
          <a:ln/>
        </p:spPr>
        <p:txBody>
          <a:bodyPr wrap="square" lIns="0" tIns="0" rIns="0" bIns="0" rtlCol="0" anchor="t"/>
          <a:lstStyle/>
          <a:p>
            <a:pPr indent="0" marL="0">
              <a:buNone/>
            </a:pPr>
            <a:r>
              <a:rPr lang="en-US" sz="1400" dirty="0">
                <a:solidFill>
                  <a:schemeClr val="accent6"/>
                </a:solidFill>
              </a:rPr>
              <a:t>Amplitude amplification needs about √N queries where a classical scan needs about N.</a:t>
            </a:r>
            <a:endParaRPr lang="en-US" sz="1400" dirty="0"/>
          </a:p>
        </p:txBody>
      </p:sp>
      <p:sp>
        <p:nvSpPr>
          <p:cNvPr id="32" name="Card Seeded benchmarks"/>
          <p:cNvSpPr/>
          <p:nvPr/>
        </p:nvSpPr>
        <p:spPr>
          <a:xfrm>
            <a:off x="4800600" y="2926080"/>
            <a:ext cx="3886200" cy="1600200"/>
          </a:xfrm>
          <a:prstGeom prst="roundRect">
            <a:avLst>
              <a:gd name="adj" fmla="val 5714"/>
            </a:avLst>
          </a:prstGeom>
          <a:solidFill>
            <a:schemeClr val="bg1"/>
          </a:solidFill>
          <a:ln w="12700">
            <a:solidFill>
              <a:schemeClr val="bg2"/>
            </a:solidFill>
            <a:prstDash val="solid"/>
          </a:ln>
        </p:spPr>
      </p:sp>
      <p:sp>
        <p:nvSpPr>
          <p:cNvPr id="33" name="Text 30"/>
          <p:cNvSpPr txBox="1"/>
          <p:nvPr/>
        </p:nvSpPr>
        <p:spPr>
          <a:xfrm>
            <a:off x="5074920" y="3108960"/>
            <a:ext cx="3383280" cy="320040"/>
          </a:xfrm>
          <a:prstGeom prst="rect">
            <a:avLst/>
          </a:prstGeom>
          <a:noFill/>
          <a:ln/>
        </p:spPr>
        <p:txBody>
          <a:bodyPr wrap="square" lIns="0" tIns="0" rIns="0" bIns="0" rtlCol="0" anchor="t"/>
          <a:lstStyle/>
          <a:p>
            <a:pPr indent="0" marL="0">
              <a:buNone/>
            </a:pPr>
            <a:r>
              <a:rPr lang="en-US" sz="1700" b="1" dirty="0">
                <a:solidFill>
                  <a:schemeClr val="accent4"/>
                </a:solidFill>
              </a:rPr>
              <a:t>Seeded benchmarks</a:t>
            </a:r>
            <a:endParaRPr lang="en-US" sz="1700" dirty="0"/>
          </a:p>
        </p:txBody>
      </p:sp>
      <p:sp>
        <p:nvSpPr>
          <p:cNvPr id="34" name="Text 31"/>
          <p:cNvSpPr txBox="1"/>
          <p:nvPr/>
        </p:nvSpPr>
        <p:spPr>
          <a:xfrm>
            <a:off x="5074920" y="3520440"/>
            <a:ext cx="3383280" cy="914400"/>
          </a:xfrm>
          <a:prstGeom prst="rect">
            <a:avLst/>
          </a:prstGeom>
          <a:noFill/>
          <a:ln/>
        </p:spPr>
        <p:txBody>
          <a:bodyPr wrap="square" lIns="0" tIns="0" rIns="0" bIns="0" rtlCol="0" anchor="t"/>
          <a:lstStyle/>
          <a:p>
            <a:pPr indent="0" marL="0">
              <a:buNone/>
            </a:pPr>
            <a:r>
              <a:rPr lang="en-US" sz="1400" dirty="0">
                <a:solidFill>
                  <a:schemeClr val="accent6"/>
                </a:solidFill>
              </a:rPr>
              <a:t>BB84 and Grover runs are reproducible and report finite-sample behavior honestly.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Noise, repair and teleportation</a:t>
            </a:r>
            <a:endParaRPr lang="en-US" sz="3200" dirty="0"/>
          </a:p>
        </p:txBody>
      </p:sp>
      <p:sp>
        <p:nvSpPr>
          <p:cNvPr id="4" name="Card Noise channels"/>
          <p:cNvSpPr/>
          <p:nvPr/>
        </p:nvSpPr>
        <p:spPr>
          <a:xfrm>
            <a:off x="457200" y="1188720"/>
            <a:ext cx="3657600" cy="1600200"/>
          </a:xfrm>
          <a:prstGeom prst="roundRect">
            <a:avLst>
              <a:gd name="adj" fmla="val 5714"/>
            </a:avLst>
          </a:prstGeom>
          <a:solidFill>
            <a:schemeClr val="bg1"/>
          </a:solidFill>
          <a:ln w="12700">
            <a:solidFill>
              <a:schemeClr val="bg2"/>
            </a:solidFill>
            <a:prstDash val="solid"/>
          </a:ln>
        </p:spPr>
      </p:sp>
      <p:sp>
        <p:nvSpPr>
          <p:cNvPr id="5" name="Text 2"/>
          <p:cNvSpPr txBox="1"/>
          <p:nvPr/>
        </p:nvSpPr>
        <p:spPr>
          <a:xfrm>
            <a:off x="731520" y="1371600"/>
            <a:ext cx="3108960" cy="320040"/>
          </a:xfrm>
          <a:prstGeom prst="rect">
            <a:avLst/>
          </a:prstGeom>
          <a:noFill/>
          <a:ln/>
        </p:spPr>
        <p:txBody>
          <a:bodyPr wrap="square" lIns="0" tIns="0" rIns="0" bIns="0" rtlCol="0" anchor="t"/>
          <a:lstStyle/>
          <a:p>
            <a:pPr indent="0" marL="0">
              <a:buNone/>
            </a:pPr>
            <a:r>
              <a:rPr lang="en-US" sz="1700" b="1" dirty="0">
                <a:solidFill>
                  <a:schemeClr val="accent3"/>
                </a:solidFill>
              </a:rPr>
              <a:t>Noise channels</a:t>
            </a:r>
            <a:endParaRPr lang="en-US" sz="1700" dirty="0"/>
          </a:p>
        </p:txBody>
      </p:sp>
      <p:sp>
        <p:nvSpPr>
          <p:cNvPr id="6" name="Text 3"/>
          <p:cNvSpPr txBox="1"/>
          <p:nvPr/>
        </p:nvSpPr>
        <p:spPr>
          <a:xfrm>
            <a:off x="731520" y="182880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Kraus-channel density matrices with purity and fidelity metrics.</a:t>
            </a:r>
            <a:endParaRPr lang="en-US" sz="1400" dirty="0"/>
          </a:p>
        </p:txBody>
      </p:sp>
      <p:sp>
        <p:nvSpPr>
          <p:cNvPr id="7" name="Card Repetition code"/>
          <p:cNvSpPr/>
          <p:nvPr/>
        </p:nvSpPr>
        <p:spPr>
          <a:xfrm>
            <a:off x="457200" y="2971800"/>
            <a:ext cx="3657600" cy="1600200"/>
          </a:xfrm>
          <a:prstGeom prst="roundRect">
            <a:avLst>
              <a:gd name="adj" fmla="val 5714"/>
            </a:avLst>
          </a:prstGeom>
          <a:solidFill>
            <a:schemeClr val="bg1"/>
          </a:solidFill>
          <a:ln w="12700">
            <a:solidFill>
              <a:schemeClr val="bg2"/>
            </a:solidFill>
            <a:prstDash val="solid"/>
          </a:ln>
        </p:spPr>
      </p:sp>
      <p:sp>
        <p:nvSpPr>
          <p:cNvPr id="8" name="Text 5"/>
          <p:cNvSpPr txBox="1"/>
          <p:nvPr/>
        </p:nvSpPr>
        <p:spPr>
          <a:xfrm>
            <a:off x="731520" y="3154680"/>
            <a:ext cx="3108960" cy="320040"/>
          </a:xfrm>
          <a:prstGeom prst="rect">
            <a:avLst/>
          </a:prstGeom>
          <a:noFill/>
          <a:ln/>
        </p:spPr>
        <p:txBody>
          <a:bodyPr wrap="square" lIns="0" tIns="0" rIns="0" bIns="0" rtlCol="0" anchor="t"/>
          <a:lstStyle/>
          <a:p>
            <a:pPr indent="0" marL="0">
              <a:buNone/>
            </a:pPr>
            <a:r>
              <a:rPr lang="en-US" sz="1700" b="1" dirty="0">
                <a:solidFill>
                  <a:schemeClr val="accent1"/>
                </a:solidFill>
              </a:rPr>
              <a:t>Repetition code</a:t>
            </a:r>
            <a:endParaRPr lang="en-US" sz="1700" dirty="0"/>
          </a:p>
        </p:txBody>
      </p:sp>
      <p:sp>
        <p:nvSpPr>
          <p:cNvPr id="9" name="Text 6"/>
          <p:cNvSpPr txBox="1"/>
          <p:nvPr/>
        </p:nvSpPr>
        <p:spPr>
          <a:xfrm>
            <a:off x="731520" y="361188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Bit-flip and phase-flip correction with recovery results.</a:t>
            </a:r>
            <a:endParaRPr lang="en-US" sz="1400" dirty="0"/>
          </a:p>
        </p:txBody>
      </p:sp>
      <p:sp>
        <p:nvSpPr>
          <p:cNvPr id="10" name="Teleportation card"/>
          <p:cNvSpPr/>
          <p:nvPr/>
        </p:nvSpPr>
        <p:spPr>
          <a:xfrm>
            <a:off x="4389120" y="1188720"/>
            <a:ext cx="4297680" cy="3383280"/>
          </a:xfrm>
          <a:prstGeom prst="roundRect">
            <a:avLst>
              <a:gd name="adj" fmla="val 2703"/>
            </a:avLst>
          </a:prstGeom>
          <a:solidFill>
            <a:schemeClr val="tx2"/>
          </a:solidFill>
          <a:ln w="12700">
            <a:solidFill>
              <a:schemeClr val="tx2"/>
            </a:solidFill>
            <a:prstDash val="solid"/>
          </a:ln>
        </p:spPr>
      </p:sp>
      <p:sp>
        <p:nvSpPr>
          <p:cNvPr id="11" name="Text 8"/>
          <p:cNvSpPr txBox="1"/>
          <p:nvPr/>
        </p:nvSpPr>
        <p:spPr>
          <a:xfrm>
            <a:off x="4663440" y="1371600"/>
            <a:ext cx="3749040" cy="365760"/>
          </a:xfrm>
          <a:prstGeom prst="rect">
            <a:avLst/>
          </a:prstGeom>
          <a:noFill/>
          <a:ln/>
        </p:spPr>
        <p:txBody>
          <a:bodyPr wrap="square" lIns="0" tIns="0" rIns="0" bIns="0" rtlCol="0" anchor="t"/>
          <a:lstStyle/>
          <a:p>
            <a:pPr indent="0" marL="0">
              <a:buNone/>
            </a:pPr>
            <a:r>
              <a:rPr lang="en-US" sz="1800" b="1" dirty="0">
                <a:solidFill>
                  <a:schemeClr val="bg1"/>
                </a:solidFill>
              </a:rPr>
              <a:t>Teleportation lab</a:t>
            </a:r>
            <a:endParaRPr lang="en-US" sz="1800" dirty="0"/>
          </a:p>
        </p:txBody>
      </p:sp>
      <p:sp>
        <p:nvSpPr>
          <p:cNvPr id="12" name="Badge 1"/>
          <p:cNvSpPr/>
          <p:nvPr/>
        </p:nvSpPr>
        <p:spPr>
          <a:xfrm>
            <a:off x="4663440" y="1965960"/>
            <a:ext cx="365760" cy="365760"/>
          </a:xfrm>
          <a:prstGeom prst="ellipse">
            <a:avLst/>
          </a:prstGeom>
          <a:solidFill>
            <a:schemeClr val="accent1"/>
          </a:solidFill>
          <a:ln/>
        </p:spPr>
      </p:sp>
      <p:sp>
        <p:nvSpPr>
          <p:cNvPr id="13" name="Text 10"/>
          <p:cNvSpPr txBox="1"/>
          <p:nvPr/>
        </p:nvSpPr>
        <p:spPr>
          <a:xfrm>
            <a:off x="4663440" y="1965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1"/>
          <p:cNvSpPr txBox="1"/>
          <p:nvPr/>
        </p:nvSpPr>
        <p:spPr>
          <a:xfrm>
            <a:off x="5212080" y="1965960"/>
            <a:ext cx="3291840" cy="365760"/>
          </a:xfrm>
          <a:prstGeom prst="rect">
            <a:avLst/>
          </a:prstGeom>
          <a:noFill/>
          <a:ln/>
        </p:spPr>
        <p:txBody>
          <a:bodyPr wrap="square" lIns="0" tIns="0" rIns="0" bIns="0" rtlCol="0" anchor="ctr"/>
          <a:lstStyle/>
          <a:p>
            <a:pPr indent="0" marL="0">
              <a:buNone/>
            </a:pPr>
            <a:r>
              <a:rPr lang="en-US" sz="1400" dirty="0">
                <a:solidFill>
                  <a:schemeClr val="bg1"/>
                </a:solidFill>
              </a:rPr>
              <a:t>Prepare a Bell pair</a:t>
            </a:r>
            <a:endParaRPr lang="en-US" sz="1400" dirty="0"/>
          </a:p>
        </p:txBody>
      </p:sp>
      <p:sp>
        <p:nvSpPr>
          <p:cNvPr id="15" name="Badge 2"/>
          <p:cNvSpPr/>
          <p:nvPr/>
        </p:nvSpPr>
        <p:spPr>
          <a:xfrm>
            <a:off x="4663440" y="2468880"/>
            <a:ext cx="365760" cy="365760"/>
          </a:xfrm>
          <a:prstGeom prst="ellipse">
            <a:avLst/>
          </a:prstGeom>
          <a:solidFill>
            <a:schemeClr val="accent3"/>
          </a:solidFill>
          <a:ln/>
        </p:spPr>
      </p:sp>
      <p:sp>
        <p:nvSpPr>
          <p:cNvPr id="16" name="Text 13"/>
          <p:cNvSpPr txBox="1"/>
          <p:nvPr/>
        </p:nvSpPr>
        <p:spPr>
          <a:xfrm>
            <a:off x="4663440" y="2468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4"/>
          <p:cNvSpPr txBox="1"/>
          <p:nvPr/>
        </p:nvSpPr>
        <p:spPr>
          <a:xfrm>
            <a:off x="5212080" y="2468880"/>
            <a:ext cx="3291840" cy="365760"/>
          </a:xfrm>
          <a:prstGeom prst="rect">
            <a:avLst/>
          </a:prstGeom>
          <a:noFill/>
          <a:ln/>
        </p:spPr>
        <p:txBody>
          <a:bodyPr wrap="square" lIns="0" tIns="0" rIns="0" bIns="0" rtlCol="0" anchor="ctr"/>
          <a:lstStyle/>
          <a:p>
            <a:pPr indent="0" marL="0">
              <a:buNone/>
            </a:pPr>
            <a:r>
              <a:rPr lang="en-US" sz="1400" dirty="0">
                <a:solidFill>
                  <a:schemeClr val="bg1"/>
                </a:solidFill>
              </a:rPr>
              <a:t>Run the Bell measurement</a:t>
            </a:r>
            <a:endParaRPr lang="en-US" sz="1400" dirty="0"/>
          </a:p>
        </p:txBody>
      </p:sp>
      <p:sp>
        <p:nvSpPr>
          <p:cNvPr id="18" name="Badge 3"/>
          <p:cNvSpPr/>
          <p:nvPr/>
        </p:nvSpPr>
        <p:spPr>
          <a:xfrm>
            <a:off x="4663440" y="2971800"/>
            <a:ext cx="365760" cy="365760"/>
          </a:xfrm>
          <a:prstGeom prst="ellipse">
            <a:avLst/>
          </a:prstGeom>
          <a:solidFill>
            <a:schemeClr val="accent2"/>
          </a:solidFill>
          <a:ln/>
        </p:spPr>
      </p:sp>
      <p:sp>
        <p:nvSpPr>
          <p:cNvPr id="19" name="Text 16"/>
          <p:cNvSpPr txBox="1"/>
          <p:nvPr/>
        </p:nvSpPr>
        <p:spPr>
          <a:xfrm>
            <a:off x="4663440" y="29718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7"/>
          <p:cNvSpPr txBox="1"/>
          <p:nvPr/>
        </p:nvSpPr>
        <p:spPr>
          <a:xfrm>
            <a:off x="5212080" y="2971800"/>
            <a:ext cx="3291840" cy="365760"/>
          </a:xfrm>
          <a:prstGeom prst="rect">
            <a:avLst/>
          </a:prstGeom>
          <a:noFill/>
          <a:ln/>
        </p:spPr>
        <p:txBody>
          <a:bodyPr wrap="square" lIns="0" tIns="0" rIns="0" bIns="0" rtlCol="0" anchor="ctr"/>
          <a:lstStyle/>
          <a:p>
            <a:pPr indent="0" marL="0">
              <a:buNone/>
            </a:pPr>
            <a:r>
              <a:rPr lang="en-US" sz="1400" dirty="0">
                <a:solidFill>
                  <a:schemeClr val="bg1"/>
                </a:solidFill>
              </a:rPr>
              <a:t>Send two classical bits</a:t>
            </a:r>
            <a:endParaRPr lang="en-US" sz="1400" dirty="0"/>
          </a:p>
        </p:txBody>
      </p:sp>
      <p:sp>
        <p:nvSpPr>
          <p:cNvPr id="21" name="Badge 4"/>
          <p:cNvSpPr/>
          <p:nvPr/>
        </p:nvSpPr>
        <p:spPr>
          <a:xfrm>
            <a:off x="4663440" y="3474720"/>
            <a:ext cx="365760" cy="365760"/>
          </a:xfrm>
          <a:prstGeom prst="ellipse">
            <a:avLst/>
          </a:prstGeom>
          <a:solidFill>
            <a:schemeClr val="accent4"/>
          </a:solidFill>
          <a:ln/>
        </p:spPr>
      </p:sp>
      <p:sp>
        <p:nvSpPr>
          <p:cNvPr id="22" name="Text 19"/>
          <p:cNvSpPr txBox="1"/>
          <p:nvPr/>
        </p:nvSpPr>
        <p:spPr>
          <a:xfrm>
            <a:off x="4663440" y="3474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5212080" y="3474720"/>
            <a:ext cx="3291840" cy="365760"/>
          </a:xfrm>
          <a:prstGeom prst="rect">
            <a:avLst/>
          </a:prstGeom>
          <a:noFill/>
          <a:ln/>
        </p:spPr>
        <p:txBody>
          <a:bodyPr wrap="square" lIns="0" tIns="0" rIns="0" bIns="0" rtlCol="0" anchor="ctr"/>
          <a:lstStyle/>
          <a:p>
            <a:pPr indent="0" marL="0">
              <a:buNone/>
            </a:pPr>
            <a:r>
              <a:rPr lang="en-US" sz="1400" dirty="0">
                <a:solidFill>
                  <a:schemeClr val="bg1"/>
                </a:solidFill>
              </a:rPr>
              <a:t>Apply conditional correction</a:t>
            </a:r>
            <a:endParaRPr lang="en-US" sz="1400" dirty="0"/>
          </a:p>
        </p:txBody>
      </p:sp>
      <p:sp>
        <p:nvSpPr>
          <p:cNvPr id="24" name="Badge 5"/>
          <p:cNvSpPr/>
          <p:nvPr/>
        </p:nvSpPr>
        <p:spPr>
          <a:xfrm>
            <a:off x="4663440" y="3977640"/>
            <a:ext cx="365760" cy="365760"/>
          </a:xfrm>
          <a:prstGeom prst="ellipse">
            <a:avLst/>
          </a:prstGeom>
          <a:solidFill>
            <a:schemeClr val="accent5"/>
          </a:solidFill>
          <a:ln/>
        </p:spPr>
      </p:sp>
      <p:sp>
        <p:nvSpPr>
          <p:cNvPr id="25" name="Text 22"/>
          <p:cNvSpPr txBox="1"/>
          <p:nvPr/>
        </p:nvSpPr>
        <p:spPr>
          <a:xfrm>
            <a:off x="4663440" y="39776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3"/>
          <p:cNvSpPr txBox="1"/>
          <p:nvPr/>
        </p:nvSpPr>
        <p:spPr>
          <a:xfrm>
            <a:off x="5212080" y="3977640"/>
            <a:ext cx="3291840" cy="365760"/>
          </a:xfrm>
          <a:prstGeom prst="rect">
            <a:avLst/>
          </a:prstGeom>
          <a:noFill/>
          <a:ln/>
        </p:spPr>
        <p:txBody>
          <a:bodyPr wrap="square" lIns="0" tIns="0" rIns="0" bIns="0" rtlCol="0" anchor="ctr"/>
          <a:lstStyle/>
          <a:p>
            <a:pPr indent="0" marL="0">
              <a:buNone/>
            </a:pPr>
            <a:r>
              <a:rPr lang="en-US" sz="1400" dirty="0">
                <a:solidFill>
                  <a:schemeClr val="bg1"/>
                </a:solidFill>
              </a:rPr>
              <a:t>Check reconstructed fidelity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What changed this semester</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80160"/>
                <a:gridCol w="2834640"/>
                <a:gridCol w="4114800"/>
              </a:tblGrid>
              <a:tr h="475488">
                <a:tc>
                  <a:txBody>
                    <a:bodyPr/>
                    <a:lstStyle/>
                    <a:p>
                      <a:pPr indent="0" marL="0">
                        <a:buNone/>
                      </a:pPr>
                      <a:r>
                        <a:rPr lang="en-US" sz="1400" b="1" dirty="0">
                          <a:solidFill>
                            <a:srgbClr val="FFFFFF"/>
                          </a:solidFill>
                        </a:rPr>
                        <a:t>Area</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0B1220"/>
                    </a:solidFill>
                  </a:tcPr>
                </a:tc>
                <a:tc>
                  <a:txBody>
                    <a:bodyPr/>
                    <a:lstStyle/>
                    <a:p>
                      <a:pPr indent="0" marL="0">
                        <a:buNone/>
                      </a:pPr>
                      <a:r>
                        <a:rPr lang="en-US" sz="1400" b="1" dirty="0">
                          <a:solidFill>
                            <a:srgbClr val="FFFFFF"/>
                          </a:solidFill>
                        </a:rPr>
                        <a:t>Before</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0B1220"/>
                    </a:solidFill>
                  </a:tcPr>
                </a:tc>
                <a:tc>
                  <a:txBody>
                    <a:bodyPr/>
                    <a:lstStyle/>
                    <a:p>
                      <a:pPr indent="0" marL="0">
                        <a:buNone/>
                      </a:pPr>
                      <a:r>
                        <a:rPr lang="en-US" sz="1400" b="1" dirty="0">
                          <a:solidFill>
                            <a:srgbClr val="FFFFFF"/>
                          </a:solidFill>
                        </a:rPr>
                        <a:t>This semester</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0B1220"/>
                    </a:solidFill>
                  </a:tcPr>
                </a:tc>
              </a:tr>
              <a:tr h="475488">
                <a:tc>
                  <a:txBody>
                    <a:bodyPr/>
                    <a:lstStyle/>
                    <a:p>
                      <a:pPr indent="0" marL="0">
                        <a:buNone/>
                      </a:pPr>
                      <a:r>
                        <a:rPr lang="en-US" sz="1400" b="1" dirty="0">
                          <a:solidFill>
                            <a:srgbClr val="0B1220"/>
                          </a:solidFill>
                        </a:rPr>
                        <a:t>Interface</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CLI commands only</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Web SOC dashboard and REST API</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r h="475488">
                <a:tc>
                  <a:txBody>
                    <a:bodyPr/>
                    <a:lstStyle/>
                    <a:p>
                      <a:pPr indent="0" marL="0">
                        <a:buNone/>
                      </a:pPr>
                      <a:r>
                        <a:rPr lang="en-US" sz="1400" b="1" dirty="0">
                          <a:solidFill>
                            <a:srgbClr val="0B1220"/>
                          </a:solidFill>
                        </a:rPr>
                        <a:t>Storage</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JSONL log files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SQL database with incidents and users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r h="475488">
                <a:tc>
                  <a:txBody>
                    <a:bodyPr/>
                    <a:lstStyle/>
                    <a:p>
                      <a:pPr indent="0" marL="0">
                        <a:buNone/>
                      </a:pPr>
                      <a:r>
                        <a:rPr lang="en-US" sz="1400" b="1" dirty="0">
                          <a:solidFill>
                            <a:srgbClr val="0B1220"/>
                          </a:solidFill>
                        </a:rPr>
                        <a:t>Detection</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Bayesian threshold detector</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MITRE ATT&amp;CK rules and correlation</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r h="475488">
                <a:tc>
                  <a:txBody>
                    <a:bodyPr/>
                    <a:lstStyle/>
                    <a:p>
                      <a:pPr indent="0" marL="0">
                        <a:buNone/>
                      </a:pPr>
                      <a:r>
                        <a:rPr lang="en-US" sz="1400" b="1" dirty="0">
                          <a:solidFill>
                            <a:srgbClr val="0B1220"/>
                          </a:solidFill>
                        </a:rPr>
                        <a:t>Traps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Canary files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Plus HTTP and SSH decoys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r h="475488">
                <a:tc>
                  <a:txBody>
                    <a:bodyPr/>
                    <a:lstStyle/>
                    <a:p>
                      <a:pPr indent="0" marL="0">
                        <a:buNone/>
                      </a:pPr>
                      <a:r>
                        <a:rPr lang="en-US" sz="1400" b="1" dirty="0">
                          <a:solidFill>
                            <a:srgbClr val="0B1220"/>
                          </a:solidFill>
                        </a:rPr>
                        <a:t>Access</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No login system</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JWT, RBAC and PBKDF2 hashing</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r h="475488">
                <a:tc>
                  <a:txBody>
                    <a:bodyPr/>
                    <a:lstStyle/>
                    <a:p>
                      <a:pPr indent="0" marL="0">
                        <a:buNone/>
                      </a:pPr>
                      <a:r>
                        <a:rPr lang="en-US" sz="1400" b="1" dirty="0">
                          <a:solidFill>
                            <a:srgbClr val="0B1220"/>
                          </a:solidFill>
                        </a:rPr>
                        <a:t>Quantum</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Intercept simulation</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8-module lab with BB84, Grover, teleportation</a:t>
                      </a:r>
                      <a:endParaRPr lang="en-US" sz="1400" dirty="0"/>
                    </a:p>
                  </a:txBody>
                  <a:tcPr marL="91440" marR="91440" marT="45720" marB="45720" anchor="ctr">
                    <a:lnL w="12700" cap="flat" cmpd="sng" algn="ctr">
                      <a:solidFill>
                        <a:srgbClr val="E3EAF2"/>
                      </a:solidFill>
                      <a:prstDash val="solid"/>
                      <a:round/>
                      <a:headEnd type="none" w="med" len="med"/>
                      <a:tailEnd type="none" w="med" len="med"/>
                    </a:lnL>
                    <a:lnR w="12700" cap="flat" cmpd="sng" algn="ctr">
                      <a:solidFill>
                        <a:srgbClr val="E3EAF2"/>
                      </a:solidFill>
                      <a:prstDash val="solid"/>
                      <a:round/>
                      <a:headEnd type="none" w="med" len="med"/>
                      <a:tailEnd type="none" w="med" len="med"/>
                    </a:lnR>
                    <a:lnT w="12700" cap="flat" cmpd="sng" algn="ctr">
                      <a:solidFill>
                        <a:srgbClr val="E3EAF2"/>
                      </a:solidFill>
                      <a:prstDash val="solid"/>
                      <a:round/>
                      <a:headEnd type="none" w="med" len="med"/>
                      <a:tailEnd type="none" w="med" len="med"/>
                    </a:lnT>
                    <a:lnB w="12700" cap="flat" cmpd="sng" algn="ctr">
                      <a:solidFill>
                        <a:srgbClr val="E3EAF2"/>
                      </a:solidFill>
                      <a:prstDash val="solid"/>
                      <a:round/>
                      <a:headEnd type="none" w="med" len="med"/>
                      <a:tailEnd type="none" w="med" len="med"/>
                    </a:lnB>
                    <a:solidFill>
                      <a:srgbClr val="E2F3F6"/>
                    </a:solidFill>
                  </a:tcPr>
                </a:tc>
              </a:tr>
            </a:tbl>
          </a:graphicData>
        </a:graphic>
      </p:graphicFrame>
      <p:sp>
        <p:nvSpPr>
          <p:cNvPr id="5" name="Text 1"/>
          <p:cNvSpPr txBox="1"/>
          <p:nvPr/>
        </p:nvSpPr>
        <p:spPr>
          <a:xfrm>
            <a:off x="457200" y="4572000"/>
            <a:ext cx="7680960" cy="228600"/>
          </a:xfrm>
          <a:prstGeom prst="rect">
            <a:avLst/>
          </a:prstGeom>
          <a:noFill/>
          <a:ln/>
        </p:spPr>
        <p:txBody>
          <a:bodyPr wrap="square" lIns="0" tIns="0" rIns="0" bIns="0" rtlCol="0" anchor="t"/>
          <a:lstStyle/>
          <a:p>
            <a:pPr indent="0" marL="0">
              <a:buNone/>
            </a:pPr>
            <a:r>
              <a:rPr lang="en-US" sz="1200" dirty="0">
                <a:solidFill>
                  <a:schemeClr val="accent6"/>
                </a:solidFill>
              </a:rPr>
              <a:t>The original CLI commands still work: status, deploy, verify and simulate.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Running and testing it</a:t>
            </a:r>
            <a:endParaRPr lang="en-US" sz="3200" dirty="0"/>
          </a:p>
        </p:txBody>
      </p:sp>
      <p:sp>
        <p:nvSpPr>
          <p:cNvPr id="4" name="Code card"/>
          <p:cNvSpPr/>
          <p:nvPr/>
        </p:nvSpPr>
        <p:spPr>
          <a:xfrm>
            <a:off x="457200" y="1188720"/>
            <a:ext cx="4937760" cy="3383280"/>
          </a:xfrm>
          <a:prstGeom prst="roundRect">
            <a:avLst>
              <a:gd name="adj" fmla="val 2703"/>
            </a:avLst>
          </a:prstGeom>
          <a:solidFill>
            <a:schemeClr val="tx2"/>
          </a:solidFill>
          <a:ln w="12700">
            <a:solidFill>
              <a:schemeClr val="tx2"/>
            </a:solidFill>
            <a:prstDash val="solid"/>
          </a:ln>
        </p:spPr>
      </p:sp>
      <p:sp>
        <p:nvSpPr>
          <p:cNvPr id="5" name="Text 2"/>
          <p:cNvSpPr txBox="1"/>
          <p:nvPr/>
        </p:nvSpPr>
        <p:spPr>
          <a:xfrm>
            <a:off x="731520" y="1463040"/>
            <a:ext cx="4480560" cy="2926080"/>
          </a:xfrm>
          <a:prstGeom prst="rect">
            <a:avLst/>
          </a:prstGeom>
          <a:noFill/>
          <a:ln/>
        </p:spPr>
        <p:txBody>
          <a:bodyPr wrap="square" lIns="0" tIns="0" rIns="0" bIns="0" rtlCol="0" anchor="t"/>
          <a:lstStyle/>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python -m pytest -v</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uvicorn quantum_honeypot.api.app:app --port 8000</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python main.py deploy</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python main.py simulate --trials 50 --qubits 8 --pdf</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docker-compose up -d --build</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curl localhost:8000/healthz</a:t>
            </a:r>
            <a:endParaRPr lang="en-US" sz="1100" dirty="0"/>
          </a:p>
          <a:p>
            <a:pPr indent="0" marL="0">
              <a:spcAft>
                <a:spcPts val="1000"/>
              </a:spcAft>
              <a:buNone/>
            </a:pPr>
            <a:r>
              <a:rPr lang="en-US" sz="1100" dirty="0">
                <a:solidFill>
                  <a:schemeClr val="bg2"/>
                </a:solidFill>
                <a:latin typeface="Courier New" pitchFamily="34" charset="0"/>
                <a:ea typeface="Courier New" pitchFamily="34" charset="-122"/>
                <a:cs typeface="Courier New" pitchFamily="34" charset="-120"/>
              </a:rPr>
              <a:t>curl localhost:8000/readyz</a:t>
            </a:r>
            <a:endParaRPr lang="en-US" sz="1100" dirty="0"/>
          </a:p>
        </p:txBody>
      </p:sp>
      <p:sp>
        <p:nvSpPr>
          <p:cNvPr id="6" name="Card pytest"/>
          <p:cNvSpPr/>
          <p:nvPr/>
        </p:nvSpPr>
        <p:spPr>
          <a:xfrm>
            <a:off x="5669280" y="1188720"/>
            <a:ext cx="3017520" cy="1005840"/>
          </a:xfrm>
          <a:prstGeom prst="roundRect">
            <a:avLst>
              <a:gd name="adj" fmla="val 9091"/>
            </a:avLst>
          </a:prstGeom>
          <a:solidFill>
            <a:schemeClr val="bg1"/>
          </a:solidFill>
          <a:ln w="12700">
            <a:solidFill>
              <a:schemeClr val="bg2"/>
            </a:solidFill>
            <a:prstDash val="solid"/>
          </a:ln>
        </p:spPr>
      </p:sp>
      <p:sp>
        <p:nvSpPr>
          <p:cNvPr id="7" name="Text 4"/>
          <p:cNvSpPr txBox="1"/>
          <p:nvPr/>
        </p:nvSpPr>
        <p:spPr>
          <a:xfrm>
            <a:off x="5852160" y="1280160"/>
            <a:ext cx="2651760" cy="274320"/>
          </a:xfrm>
          <a:prstGeom prst="rect">
            <a:avLst/>
          </a:prstGeom>
          <a:noFill/>
          <a:ln/>
        </p:spPr>
        <p:txBody>
          <a:bodyPr wrap="square" lIns="0" tIns="0" rIns="0" bIns="0" rtlCol="0" anchor="t"/>
          <a:lstStyle/>
          <a:p>
            <a:pPr indent="0" marL="0">
              <a:buNone/>
            </a:pPr>
            <a:r>
              <a:rPr lang="en-US" sz="1500" b="1" dirty="0">
                <a:solidFill>
                  <a:schemeClr val="accent1"/>
                </a:solidFill>
              </a:rPr>
              <a:t>pytest</a:t>
            </a:r>
            <a:endParaRPr lang="en-US" sz="1500" dirty="0"/>
          </a:p>
        </p:txBody>
      </p:sp>
      <p:sp>
        <p:nvSpPr>
          <p:cNvPr id="8" name="Text 5"/>
          <p:cNvSpPr txBox="1"/>
          <p:nvPr/>
        </p:nvSpPr>
        <p:spPr>
          <a:xfrm>
            <a:off x="5852160" y="1572768"/>
            <a:ext cx="2651760" cy="594360"/>
          </a:xfrm>
          <a:prstGeom prst="rect">
            <a:avLst/>
          </a:prstGeom>
          <a:noFill/>
          <a:ln/>
        </p:spPr>
        <p:txBody>
          <a:bodyPr wrap="square" lIns="0" tIns="0" rIns="0" bIns="0" rtlCol="0" anchor="t"/>
          <a:lstStyle/>
          <a:p>
            <a:pPr indent="0" marL="0">
              <a:buNone/>
            </a:pPr>
            <a:r>
              <a:rPr lang="en-US" sz="1200" dirty="0">
                <a:solidFill>
                  <a:schemeClr val="accent6"/>
                </a:solidFill>
              </a:rPr>
              <a:t>Checks quantum maths, auth, event pipeline, demo scenarios and API replies.</a:t>
            </a:r>
            <a:endParaRPr lang="en-US" sz="1200" dirty="0"/>
          </a:p>
        </p:txBody>
      </p:sp>
      <p:sp>
        <p:nvSpPr>
          <p:cNvPr id="9" name="Card Docker Compose"/>
          <p:cNvSpPr/>
          <p:nvPr/>
        </p:nvSpPr>
        <p:spPr>
          <a:xfrm>
            <a:off x="5669280" y="2377440"/>
            <a:ext cx="3017520" cy="1005840"/>
          </a:xfrm>
          <a:prstGeom prst="roundRect">
            <a:avLst>
              <a:gd name="adj" fmla="val 9091"/>
            </a:avLst>
          </a:prstGeom>
          <a:solidFill>
            <a:schemeClr val="bg1"/>
          </a:solidFill>
          <a:ln w="12700">
            <a:solidFill>
              <a:schemeClr val="bg2"/>
            </a:solidFill>
            <a:prstDash val="solid"/>
          </a:ln>
        </p:spPr>
      </p:sp>
      <p:sp>
        <p:nvSpPr>
          <p:cNvPr id="10" name="Text 7"/>
          <p:cNvSpPr txBox="1"/>
          <p:nvPr/>
        </p:nvSpPr>
        <p:spPr>
          <a:xfrm>
            <a:off x="5852160" y="2468880"/>
            <a:ext cx="2651760" cy="274320"/>
          </a:xfrm>
          <a:prstGeom prst="rect">
            <a:avLst/>
          </a:prstGeom>
          <a:noFill/>
          <a:ln/>
        </p:spPr>
        <p:txBody>
          <a:bodyPr wrap="square" lIns="0" tIns="0" rIns="0" bIns="0" rtlCol="0" anchor="t"/>
          <a:lstStyle/>
          <a:p>
            <a:pPr indent="0" marL="0">
              <a:buNone/>
            </a:pPr>
            <a:r>
              <a:rPr lang="en-US" sz="1500" b="1" dirty="0">
                <a:solidFill>
                  <a:schemeClr val="accent3"/>
                </a:solidFill>
              </a:rPr>
              <a:t>Docker Compose</a:t>
            </a:r>
            <a:endParaRPr lang="en-US" sz="1500" dirty="0"/>
          </a:p>
        </p:txBody>
      </p:sp>
      <p:sp>
        <p:nvSpPr>
          <p:cNvPr id="11" name="Text 8"/>
          <p:cNvSpPr txBox="1"/>
          <p:nvPr/>
        </p:nvSpPr>
        <p:spPr>
          <a:xfrm>
            <a:off x="5852160" y="2761488"/>
            <a:ext cx="2651760" cy="594360"/>
          </a:xfrm>
          <a:prstGeom prst="rect">
            <a:avLst/>
          </a:prstGeom>
          <a:noFill/>
          <a:ln/>
        </p:spPr>
        <p:txBody>
          <a:bodyPr wrap="square" lIns="0" tIns="0" rIns="0" bIns="0" rtlCol="0" anchor="t"/>
          <a:lstStyle/>
          <a:p>
            <a:pPr indent="0" marL="0">
              <a:buNone/>
            </a:pPr>
            <a:r>
              <a:rPr lang="en-US" sz="1200" dirty="0">
                <a:solidFill>
                  <a:schemeClr val="accent6"/>
                </a:solidFill>
              </a:rPr>
              <a:t>App plus PostgreSQL, persistent volumes, health probes.</a:t>
            </a:r>
            <a:endParaRPr lang="en-US" sz="1200" dirty="0"/>
          </a:p>
        </p:txBody>
      </p:sp>
      <p:sp>
        <p:nvSpPr>
          <p:cNvPr id="12" name="Card Vercel"/>
          <p:cNvSpPr/>
          <p:nvPr/>
        </p:nvSpPr>
        <p:spPr>
          <a:xfrm>
            <a:off x="5669280" y="3566160"/>
            <a:ext cx="3017520" cy="1005840"/>
          </a:xfrm>
          <a:prstGeom prst="roundRect">
            <a:avLst>
              <a:gd name="adj" fmla="val 9091"/>
            </a:avLst>
          </a:prstGeom>
          <a:solidFill>
            <a:schemeClr val="bg1"/>
          </a:solidFill>
          <a:ln w="12700">
            <a:solidFill>
              <a:schemeClr val="bg2"/>
            </a:solidFill>
            <a:prstDash val="solid"/>
          </a:ln>
        </p:spPr>
      </p:sp>
      <p:sp>
        <p:nvSpPr>
          <p:cNvPr id="13" name="Text 10"/>
          <p:cNvSpPr txBox="1"/>
          <p:nvPr/>
        </p:nvSpPr>
        <p:spPr>
          <a:xfrm>
            <a:off x="5852160" y="3657600"/>
            <a:ext cx="2651760" cy="274320"/>
          </a:xfrm>
          <a:prstGeom prst="rect">
            <a:avLst/>
          </a:prstGeom>
          <a:noFill/>
          <a:ln/>
        </p:spPr>
        <p:txBody>
          <a:bodyPr wrap="square" lIns="0" tIns="0" rIns="0" bIns="0" rtlCol="0" anchor="t"/>
          <a:lstStyle/>
          <a:p>
            <a:pPr indent="0" marL="0">
              <a:buNone/>
            </a:pPr>
            <a:r>
              <a:rPr lang="en-US" sz="1500" b="1" dirty="0">
                <a:solidFill>
                  <a:schemeClr val="accent2"/>
                </a:solidFill>
              </a:rPr>
              <a:t>Vercel</a:t>
            </a:r>
            <a:endParaRPr lang="en-US" sz="1500" dirty="0"/>
          </a:p>
        </p:txBody>
      </p:sp>
      <p:sp>
        <p:nvSpPr>
          <p:cNvPr id="14" name="Text 11"/>
          <p:cNvSpPr txBox="1"/>
          <p:nvPr/>
        </p:nvSpPr>
        <p:spPr>
          <a:xfrm>
            <a:off x="5852160" y="3950208"/>
            <a:ext cx="2651760" cy="594360"/>
          </a:xfrm>
          <a:prstGeom prst="rect">
            <a:avLst/>
          </a:prstGeom>
          <a:noFill/>
          <a:ln/>
        </p:spPr>
        <p:txBody>
          <a:bodyPr wrap="square" lIns="0" tIns="0" rIns="0" bIns="0" rtlCol="0" anchor="t"/>
          <a:lstStyle/>
          <a:p>
            <a:pPr indent="0" marL="0">
              <a:buNone/>
            </a:pPr>
            <a:r>
              <a:rPr lang="en-US" sz="1200" dirty="0">
                <a:solidFill>
                  <a:schemeClr val="accent6"/>
                </a:solidFill>
              </a:rPr>
              <a:t>Live demo at quantum-honeypot.vercel.app.</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Wrapping up</a:t>
            </a:r>
            <a:endParaRPr lang="en-US" sz="3200" dirty="0"/>
          </a:p>
        </p:txBody>
      </p:sp>
      <p:sp>
        <p:nvSpPr>
          <p:cNvPr id="4" name="Text 1"/>
          <p:cNvSpPr txBox="1"/>
          <p:nvPr/>
        </p:nvSpPr>
        <p:spPr>
          <a:xfrm>
            <a:off x="548640" y="128016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A working deception platform: traps, pipeline, incidents, live SOC</a:t>
            </a:r>
            <a:endParaRPr lang="en-US" sz="1800" dirty="0"/>
          </a:p>
          <a:p>
            <a:pPr marL="342900" indent="-342900">
              <a:spcAft>
                <a:spcPts val="1000"/>
              </a:spcAft>
              <a:buSzPct val="100000"/>
              <a:buChar char="•"/>
            </a:pPr>
            <a:r>
              <a:rPr lang="en-US" sz="1800" dirty="0">
                <a:solidFill>
                  <a:schemeClr val="bg1"/>
                </a:solidFill>
              </a:rPr>
              <a:t>A secured API with JWT, RBAC and PBKDF2</a:t>
            </a:r>
            <a:endParaRPr lang="en-US" sz="1800" dirty="0"/>
          </a:p>
          <a:p>
            <a:pPr marL="342900" indent="-342900">
              <a:spcAft>
                <a:spcPts val="1000"/>
              </a:spcAft>
              <a:buSzPct val="100000"/>
              <a:buChar char="•"/>
            </a:pPr>
            <a:r>
              <a:rPr lang="en-US" sz="1800" dirty="0">
                <a:solidFill>
                  <a:schemeClr val="bg1"/>
                </a:solidFill>
              </a:rPr>
              <a:t>An 8-module quantum lab with tested maths</a:t>
            </a:r>
            <a:endParaRPr lang="en-US" sz="1800" dirty="0"/>
          </a:p>
          <a:p>
            <a:pPr marL="342900" indent="-342900">
              <a:spcAft>
                <a:spcPts val="1000"/>
              </a:spcAft>
              <a:buSzPct val="100000"/>
              <a:buChar char="•"/>
            </a:pPr>
            <a:r>
              <a:rPr lang="en-US" sz="1800" dirty="0">
                <a:solidFill>
                  <a:schemeClr val="bg1"/>
                </a:solidFill>
              </a:rPr>
              <a:t>Next: alert integrations and more trap types</a:t>
            </a:r>
            <a:endParaRPr lang="en-US" sz="1800" dirty="0"/>
          </a:p>
        </p:txBody>
      </p:sp>
      <p:sp>
        <p:nvSpPr>
          <p:cNvPr id="5" name="Stat REST endpoints"/>
          <p:cNvSpPr/>
          <p:nvPr/>
        </p:nvSpPr>
        <p:spPr>
          <a:xfrm>
            <a:off x="5760720" y="1188720"/>
            <a:ext cx="2926080" cy="868680"/>
          </a:xfrm>
          <a:prstGeom prst="roundRect">
            <a:avLst>
              <a:gd name="adj" fmla="val 10526"/>
            </a:avLst>
          </a:prstGeom>
          <a:solidFill>
            <a:schemeClr val="tx2"/>
          </a:solidFill>
          <a:ln w="12700">
            <a:solidFill>
              <a:schemeClr val="tx2"/>
            </a:solidFill>
            <a:prstDash val="solid"/>
          </a:ln>
        </p:spPr>
      </p:sp>
      <p:sp>
        <p:nvSpPr>
          <p:cNvPr id="6" name="Text 3"/>
          <p:cNvSpPr txBox="1"/>
          <p:nvPr/>
        </p:nvSpPr>
        <p:spPr>
          <a:xfrm>
            <a:off x="5943600" y="1188720"/>
            <a:ext cx="822960" cy="8686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24</a:t>
            </a:r>
            <a:endParaRPr lang="en-US" sz="3000" dirty="0"/>
          </a:p>
        </p:txBody>
      </p:sp>
      <p:sp>
        <p:nvSpPr>
          <p:cNvPr id="7" name="Text 4"/>
          <p:cNvSpPr txBox="1"/>
          <p:nvPr/>
        </p:nvSpPr>
        <p:spPr>
          <a:xfrm>
            <a:off x="6858000" y="1188720"/>
            <a:ext cx="1737360" cy="868680"/>
          </a:xfrm>
          <a:prstGeom prst="rect">
            <a:avLst/>
          </a:prstGeom>
          <a:noFill/>
          <a:ln/>
        </p:spPr>
        <p:txBody>
          <a:bodyPr wrap="square" lIns="0" tIns="0" rIns="0" bIns="0" rtlCol="0" anchor="ctr"/>
          <a:lstStyle/>
          <a:p>
            <a:pPr indent="0" marL="0">
              <a:buNone/>
            </a:pPr>
            <a:r>
              <a:rPr lang="en-US" sz="1400" dirty="0">
                <a:solidFill>
                  <a:schemeClr val="bg2"/>
                </a:solidFill>
              </a:rPr>
              <a:t>REST endpoints</a:t>
            </a:r>
            <a:endParaRPr lang="en-US" sz="1400" dirty="0"/>
          </a:p>
        </p:txBody>
      </p:sp>
      <p:sp>
        <p:nvSpPr>
          <p:cNvPr id="8" name="Stat Qubits in the simulator"/>
          <p:cNvSpPr/>
          <p:nvPr/>
        </p:nvSpPr>
        <p:spPr>
          <a:xfrm>
            <a:off x="5760720" y="2194560"/>
            <a:ext cx="2926080" cy="868680"/>
          </a:xfrm>
          <a:prstGeom prst="roundRect">
            <a:avLst>
              <a:gd name="adj" fmla="val 10526"/>
            </a:avLst>
          </a:prstGeom>
          <a:solidFill>
            <a:schemeClr val="tx2"/>
          </a:solidFill>
          <a:ln w="12700">
            <a:solidFill>
              <a:schemeClr val="tx2"/>
            </a:solidFill>
            <a:prstDash val="solid"/>
          </a:ln>
        </p:spPr>
      </p:sp>
      <p:sp>
        <p:nvSpPr>
          <p:cNvPr id="9" name="Text 6"/>
          <p:cNvSpPr txBox="1"/>
          <p:nvPr/>
        </p:nvSpPr>
        <p:spPr>
          <a:xfrm>
            <a:off x="5943600" y="2194560"/>
            <a:ext cx="822960" cy="8686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8</a:t>
            </a:r>
            <a:endParaRPr lang="en-US" sz="3000" dirty="0"/>
          </a:p>
        </p:txBody>
      </p:sp>
      <p:sp>
        <p:nvSpPr>
          <p:cNvPr id="10" name="Text 7"/>
          <p:cNvSpPr txBox="1"/>
          <p:nvPr/>
        </p:nvSpPr>
        <p:spPr>
          <a:xfrm>
            <a:off x="6858000" y="2194560"/>
            <a:ext cx="1737360" cy="868680"/>
          </a:xfrm>
          <a:prstGeom prst="rect">
            <a:avLst/>
          </a:prstGeom>
          <a:noFill/>
          <a:ln/>
        </p:spPr>
        <p:txBody>
          <a:bodyPr wrap="square" lIns="0" tIns="0" rIns="0" bIns="0" rtlCol="0" anchor="ctr"/>
          <a:lstStyle/>
          <a:p>
            <a:pPr indent="0" marL="0">
              <a:buNone/>
            </a:pPr>
            <a:r>
              <a:rPr lang="en-US" sz="1400" dirty="0">
                <a:solidFill>
                  <a:schemeClr val="bg2"/>
                </a:solidFill>
              </a:rPr>
              <a:t>Qubits in the simulator</a:t>
            </a:r>
            <a:endParaRPr lang="en-US" sz="1400" dirty="0"/>
          </a:p>
        </p:txBody>
      </p:sp>
      <p:sp>
        <p:nvSpPr>
          <p:cNvPr id="11" name="Stat Access roles"/>
          <p:cNvSpPr/>
          <p:nvPr/>
        </p:nvSpPr>
        <p:spPr>
          <a:xfrm>
            <a:off x="5760720" y="3200400"/>
            <a:ext cx="2926080" cy="868680"/>
          </a:xfrm>
          <a:prstGeom prst="roundRect">
            <a:avLst>
              <a:gd name="adj" fmla="val 10526"/>
            </a:avLst>
          </a:prstGeom>
          <a:solidFill>
            <a:schemeClr val="tx2"/>
          </a:solidFill>
          <a:ln w="12700">
            <a:solidFill>
              <a:schemeClr val="tx2"/>
            </a:solidFill>
            <a:prstDash val="solid"/>
          </a:ln>
        </p:spPr>
      </p:sp>
      <p:sp>
        <p:nvSpPr>
          <p:cNvPr id="12" name="Text 9"/>
          <p:cNvSpPr txBox="1"/>
          <p:nvPr/>
        </p:nvSpPr>
        <p:spPr>
          <a:xfrm>
            <a:off x="5943600" y="3200400"/>
            <a:ext cx="822960" cy="8686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3</a:t>
            </a:r>
            <a:endParaRPr lang="en-US" sz="3000" dirty="0"/>
          </a:p>
        </p:txBody>
      </p:sp>
      <p:sp>
        <p:nvSpPr>
          <p:cNvPr id="13" name="Text 10"/>
          <p:cNvSpPr txBox="1"/>
          <p:nvPr/>
        </p:nvSpPr>
        <p:spPr>
          <a:xfrm>
            <a:off x="6858000" y="3200400"/>
            <a:ext cx="1737360" cy="868680"/>
          </a:xfrm>
          <a:prstGeom prst="rect">
            <a:avLst/>
          </a:prstGeom>
          <a:noFill/>
          <a:ln/>
        </p:spPr>
        <p:txBody>
          <a:bodyPr wrap="square" lIns="0" tIns="0" rIns="0" bIns="0" rtlCol="0" anchor="ctr"/>
          <a:lstStyle/>
          <a:p>
            <a:pPr indent="0" marL="0">
              <a:buNone/>
            </a:pPr>
            <a:r>
              <a:rPr lang="en-US" sz="1400" dirty="0">
                <a:solidFill>
                  <a:schemeClr val="bg2"/>
                </a:solidFill>
              </a:rPr>
              <a:t>Access roles</a:t>
            </a:r>
            <a:endParaRPr lang="en-US" sz="1400" dirty="0"/>
          </a:p>
        </p:txBody>
      </p:sp>
      <p:sp>
        <p:nvSpPr>
          <p:cNvPr id="14" name="Text 11"/>
          <p:cNvSpPr txBox="1"/>
          <p:nvPr/>
        </p:nvSpPr>
        <p:spPr>
          <a:xfrm>
            <a:off x="548640" y="4114800"/>
            <a:ext cx="8138160" cy="320040"/>
          </a:xfrm>
          <a:prstGeom prst="rect">
            <a:avLst/>
          </a:prstGeom>
          <a:noFill/>
          <a:ln/>
        </p:spPr>
        <p:txBody>
          <a:bodyPr wrap="square" lIns="0" tIns="0" rIns="0" bIns="0" rtlCol="0" anchor="t"/>
          <a:lstStyle/>
          <a:p>
            <a:pPr indent="0" marL="0">
              <a:buNone/>
            </a:pPr>
            <a:r>
              <a:rPr lang="en-US" sz="1400" dirty="0">
                <a:solidFill>
                  <a:schemeClr val="bg2"/>
                </a:solidFill>
              </a:rPr>
              <a:t>quantum-honeypot.vercel.app   |   github.com/amanverma420/Quantum-honeypot</a:t>
            </a:r>
            <a:endParaRPr lang="en-US" sz="1400" dirty="0"/>
          </a:p>
        </p:txBody>
      </p:sp>
      <p:sp>
        <p:nvSpPr>
          <p:cNvPr id="15" name="Text 12"/>
          <p:cNvSpPr txBox="1"/>
          <p:nvPr/>
        </p:nvSpPr>
        <p:spPr>
          <a:xfrm>
            <a:off x="548640" y="4480560"/>
            <a:ext cx="8138160" cy="365760"/>
          </a:xfrm>
          <a:prstGeom prst="rect">
            <a:avLst/>
          </a:prstGeom>
          <a:noFill/>
          <a:ln/>
        </p:spPr>
        <p:txBody>
          <a:bodyPr wrap="square" lIns="0" tIns="0" rIns="0" bIns="0" rtlCol="0" anchor="t"/>
          <a:lstStyle/>
          <a:p>
            <a:pPr indent="0" marL="0">
              <a:buNone/>
            </a:pPr>
            <a:r>
              <a:rPr lang="en-US" sz="1800" b="1" dirty="0">
                <a:solidFill>
                  <a:schemeClr val="bg1"/>
                </a:solidFill>
              </a:rPr>
              <a:t>Thank you. Questions?</a:t>
            </a:r>
            <a:endParaRPr lang="en-US" sz="1800" dirty="0"/>
          </a:p>
        </p:txBody>
      </p:sp>
    </p:spTree>
  </p:cSld>
  <p:clrMapOvr>
    <a:masterClrMapping/>
  </p:clrMapOvr>
</p:sld>
</file>

<file path=ppt/theme/theme1.xml><?xml version="1.0" encoding="utf-8"?>
<a:theme xmlns:a="http://schemas.openxmlformats.org/drawingml/2006/main" name="QuantumGuard">
  <a:themeElements>
    <a:clrScheme name="QuantumGuard">
      <a:dk1>
        <a:srgbClr val="0B1220"/>
      </a:dk1>
      <a:lt1>
        <a:srgbClr val="FFFFFF"/>
      </a:lt1>
      <a:dk2>
        <a:srgbClr val="16233A"/>
      </a:dk2>
      <a:lt2>
        <a:srgbClr val="E3EAF2"/>
      </a:lt2>
      <a:accent1>
        <a:srgbClr val="0E8FA3"/>
      </a:accent1>
      <a:accent2>
        <a:srgbClr val="C77712"/>
      </a:accent2>
      <a:accent3>
        <a:srgbClr val="6B4FE0"/>
      </a:accent3>
      <a:accent4>
        <a:srgbClr val="1F9D61"/>
      </a:accent4>
      <a:accent5>
        <a:srgbClr val="D64550"/>
      </a:accent5>
      <a:accent6>
        <a:srgbClr val="5B6B80"/>
      </a:accent6>
      <a:hlink>
        <a:srgbClr val="0E8FA3"/>
      </a:hlink>
      <a:folHlink>
        <a:srgbClr val="6B4FE0"/>
      </a:folHlink>
    </a:clrScheme>
    <a:fontScheme name="Quantum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QuantumGuard - Project Presentation</dc:title>
  <dc:subject>PptxGenJS Presentation</dc:subject>
  <dc:creator>Aman Verma</dc:creator>
  <cp:lastModifiedBy>Aman Verma</cp:lastModifiedBy>
  <cp:revision>1</cp:revision>
  <dcterms:created xsi:type="dcterms:W3CDTF">2026-10-28T07:59:29Z</dcterms:created>
  <dcterms:modified xsi:type="dcterms:W3CDTF">2026-10-28T07:59:29Z</dcterms:modified>
</cp:coreProperties>
</file>